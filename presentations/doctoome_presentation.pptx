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Calibri (MS) Bold" charset="1" panose="020F0702030404030204"/>
      <p:regular r:id="rId19"/>
    </p:embeddedFont>
    <p:embeddedFont>
      <p:font typeface="Calibri (MS)" charset="1" panose="020F050202020403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2.xml" Type="http://schemas.openxmlformats.org/officeDocument/2006/relationships/notesSlide"/><Relationship Id="rId22" Target="notesSlides/notesSlide3.xml" Type="http://schemas.openxmlformats.org/officeDocument/2006/relationships/notesSlide"/><Relationship Id="rId23" Target="notesSlides/notesSlide4.xml" Type="http://schemas.openxmlformats.org/officeDocument/2006/relationships/notesSlide"/><Relationship Id="rId24" Target="notesSlides/notesSlide5.xml" Type="http://schemas.openxmlformats.org/officeDocument/2006/relationships/notesSlide"/><Relationship Id="rId25" Target="notesSlides/notesSlide6.xml" Type="http://schemas.openxmlformats.org/officeDocument/2006/relationships/notesSlide"/><Relationship Id="rId26" Target="notesSlides/notesSlide7.xml" Type="http://schemas.openxmlformats.org/officeDocument/2006/relationships/notesSlide"/><Relationship Id="rId27" Target="notesSlides/notesSlide8.xml" Type="http://schemas.openxmlformats.org/officeDocument/2006/relationships/notesSlide"/><Relationship Id="rId28" Target="notesSlides/notesSlide9.xml" Type="http://schemas.openxmlformats.org/officeDocument/2006/relationships/notesSlide"/><Relationship Id="rId29" Target="notesSlides/notesSlide10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30 secondes. Je présente la question et le périmètre des données.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 min 30. La question métier, les données, et le fait que la qualité a été vérifiée avant de conclure.</a:t>
            </a:r>
          </a:p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 min. Les quatre chiffres à retenir. Les slides suivantes les détaillent.</a:t>
            </a:r>
          </a:p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 min. Deux pertes : avant de commencer, et à la Q4. Le reste du parcours tient bien.</a:t>
            </a:r>
          </a:p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 min 30. Le mobile est 65 % du trafic et perd deux fois plus à la Q4. Corrélation, pas cause : seul un test A/B le prouvera.</a:t>
            </a:r>
          </a:p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 min. Google apporte le volume ; l'email, le referral et les assistants IA apportent des résultats. Sans les coûts, on mesure l'efficacité, pas la rentabilité.</a:t>
            </a:r>
          </a:p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 min. Plus on avance en âge, plus la part de possible_risk monte. Les 45+ font 46 % du trafic mais 63 % des possible_risk. La campagne 45plus vise juste.</a:t>
            </a:r>
          </a:p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 min. Contexte : progression, mais cause inconnue et période trop courte pour conclure.</a:t>
            </a:r>
          </a:p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 min. Chaque recommandation vient d'un résultat : Q4 mobile, canaux, âge, et les manques de mesure rencontrés.</a:t>
            </a:r>
          </a:p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 min 30. Honnêteté sur les limites, et ce qu'il faudrait suivre pour décider dans la durée.</a:t>
            </a:r>
          </a:p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Relationship Id="rId4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73016" y="1600957"/>
            <a:ext cx="14070884" cy="2594241"/>
            <a:chOff x="0" y="0"/>
            <a:chExt cx="18761179" cy="34589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761179" cy="3458988"/>
            </a:xfrm>
            <a:custGeom>
              <a:avLst/>
              <a:gdLst/>
              <a:ahLst/>
              <a:cxnLst/>
              <a:rect r="r" b="b" t="t" l="l"/>
              <a:pathLst>
                <a:path h="3458988" w="18761179">
                  <a:moveTo>
                    <a:pt x="0" y="0"/>
                  </a:moveTo>
                  <a:lnTo>
                    <a:pt x="18761179" y="0"/>
                  </a:lnTo>
                  <a:lnTo>
                    <a:pt x="18761179" y="3458988"/>
                  </a:lnTo>
                  <a:lnTo>
                    <a:pt x="0" y="34589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529" r="-14374" b="-7022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18761179" cy="3582813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6959"/>
                </a:lnSpc>
              </a:pPr>
              <a:r>
                <a:rPr lang="en-US" sz="5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Questionnaire de sensibilisation au diabète de type 2</a:t>
              </a:r>
            </a:p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9DB4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Parcours, canaux d'acquisition et public touché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188720" y="5916770"/>
            <a:ext cx="15910560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Hamady Sakanoko</a:t>
            </a:r>
          </a:p>
          <a:p>
            <a:pPr algn="r">
              <a:lnSpc>
                <a:spcPts val="3599"/>
              </a:lnSpc>
            </a:pPr>
            <a:r>
              <a:rPr lang="en-US" sz="2999">
                <a:solidFill>
                  <a:srgbClr val="9DB4D3"/>
                </a:solidFill>
                <a:latin typeface="Calibri (MS)"/>
                <a:ea typeface="Calibri (MS)"/>
                <a:cs typeface="Calibri (MS)"/>
                <a:sym typeface="Calibri (MS)"/>
              </a:rPr>
              <a:t>Étude de cas Doctoome · octobre 2026</a:t>
            </a:r>
          </a:p>
          <a:p>
            <a:pPr algn="r">
              <a:lnSpc>
                <a:spcPts val="3599"/>
              </a:lnSpc>
            </a:pPr>
            <a:r>
              <a:rPr lang="en-US" sz="2999">
                <a:solidFill>
                  <a:srgbClr val="9DB4D3"/>
                </a:solidFill>
                <a:latin typeface="Calibri (MS)"/>
                <a:ea typeface="Calibri (MS)"/>
                <a:cs typeface="Calibri (MS)"/>
                <a:sym typeface="Calibri (MS)"/>
              </a:rPr>
              <a:t>26 000 sessions · 1er juin – 2 août 2026 (9 semaines)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19456" cy="10287000"/>
            <a:chOff x="0" y="0"/>
            <a:chExt cx="292608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2608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E6FA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9601200"/>
            <a:ext cx="10972800" cy="548640"/>
            <a:chOff x="0" y="0"/>
            <a:chExt cx="14630400" cy="7315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4630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A8F9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Étude de cas Doctoome · Hamady Sakanoko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2960" y="457200"/>
            <a:ext cx="16642080" cy="1371600"/>
            <a:chOff x="0" y="0"/>
            <a:chExt cx="22189440" cy="1828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189439" cy="1828800"/>
            </a:xfrm>
            <a:custGeom>
              <a:avLst/>
              <a:gdLst/>
              <a:ahLst/>
              <a:cxnLst/>
              <a:rect r="r" b="b" t="t" l="l"/>
              <a:pathLst>
                <a:path h="182880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6418" r="0" b="-18641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04775"/>
              <a:ext cx="22189440" cy="1933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999"/>
                </a:lnSpc>
              </a:pPr>
              <a:r>
                <a:rPr lang="en-US" sz="4999" b="true">
                  <a:solidFill>
                    <a:srgbClr val="1B2A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Contexte et données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10258" y="2729994"/>
            <a:ext cx="16667483" cy="939803"/>
            <a:chOff x="0" y="0"/>
            <a:chExt cx="22223311" cy="125307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223349" cy="1253109"/>
            </a:xfrm>
            <a:custGeom>
              <a:avLst/>
              <a:gdLst/>
              <a:ahLst/>
              <a:cxnLst/>
              <a:rect r="r" b="b" t="t" l="l"/>
              <a:pathLst>
                <a:path h="1253109" w="22223349">
                  <a:moveTo>
                    <a:pt x="0" y="0"/>
                  </a:moveTo>
                  <a:lnTo>
                    <a:pt x="22223349" y="0"/>
                  </a:lnTo>
                  <a:lnTo>
                    <a:pt x="22223349" y="1253109"/>
                  </a:lnTo>
                  <a:lnTo>
                    <a:pt x="0" y="1253109"/>
                  </a:lnTo>
                  <a:close/>
                </a:path>
              </a:pathLst>
            </a:custGeom>
            <a:solidFill>
              <a:srgbClr val="F3F6F9"/>
            </a:solidFill>
            <a:ln w="25400" cap="sq">
              <a:solidFill>
                <a:srgbClr val="F3F6F9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810258" y="2729994"/>
            <a:ext cx="135131" cy="939803"/>
            <a:chOff x="0" y="0"/>
            <a:chExt cx="180175" cy="125307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0213" cy="1253109"/>
            </a:xfrm>
            <a:custGeom>
              <a:avLst/>
              <a:gdLst/>
              <a:ahLst/>
              <a:cxnLst/>
              <a:rect r="r" b="b" t="t" l="l"/>
              <a:pathLst>
                <a:path h="1253109" w="180213">
                  <a:moveTo>
                    <a:pt x="0" y="0"/>
                  </a:moveTo>
                  <a:lnTo>
                    <a:pt x="180213" y="0"/>
                  </a:lnTo>
                  <a:lnTo>
                    <a:pt x="180213" y="1253109"/>
                  </a:lnTo>
                  <a:lnTo>
                    <a:pt x="0" y="1253109"/>
                  </a:lnTo>
                  <a:close/>
                </a:path>
              </a:pathLst>
            </a:custGeom>
            <a:solidFill>
              <a:srgbClr val="2E6FA7"/>
            </a:solidFill>
            <a:ln w="25400" cap="sq">
              <a:solidFill>
                <a:srgbClr val="2E6FA7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188715" y="2742690"/>
            <a:ext cx="16093440" cy="1129308"/>
            <a:chOff x="0" y="0"/>
            <a:chExt cx="21457920" cy="150574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457920" cy="1505743"/>
            </a:xfrm>
            <a:custGeom>
              <a:avLst/>
              <a:gdLst/>
              <a:ahLst/>
              <a:cxnLst/>
              <a:rect r="r" b="b" t="t" l="l"/>
              <a:pathLst>
                <a:path h="1505743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505743"/>
                  </a:lnTo>
                  <a:lnTo>
                    <a:pt x="0" y="150574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7190" r="0" b="-21816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76200"/>
              <a:ext cx="21457920" cy="15819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39"/>
                </a:lnSpc>
              </a:pPr>
              <a:r>
                <a:rPr lang="en-US" sz="3199" b="true">
                  <a:solidFill>
                    <a:srgbClr val="2E6FA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Combien de visiteurs vont jusqu'au résultat, par quels canaux, et touche-t-on le public concerné ?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10258" y="4138170"/>
            <a:ext cx="5328923" cy="2128523"/>
            <a:chOff x="0" y="0"/>
            <a:chExt cx="7105231" cy="283803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105269" cy="2838069"/>
            </a:xfrm>
            <a:custGeom>
              <a:avLst/>
              <a:gdLst/>
              <a:ahLst/>
              <a:cxnLst/>
              <a:rect r="r" b="b" t="t" l="l"/>
              <a:pathLst>
                <a:path h="2838069" w="7105269">
                  <a:moveTo>
                    <a:pt x="0" y="197485"/>
                  </a:moveTo>
                  <a:cubicBezTo>
                    <a:pt x="0" y="88392"/>
                    <a:pt x="88392" y="0"/>
                    <a:pt x="197485" y="0"/>
                  </a:cubicBezTo>
                  <a:lnTo>
                    <a:pt x="6907784" y="0"/>
                  </a:lnTo>
                  <a:cubicBezTo>
                    <a:pt x="7016877" y="0"/>
                    <a:pt x="7105269" y="88392"/>
                    <a:pt x="7105269" y="197485"/>
                  </a:cubicBezTo>
                  <a:lnTo>
                    <a:pt x="7105269" y="2640584"/>
                  </a:lnTo>
                  <a:cubicBezTo>
                    <a:pt x="7105269" y="2749677"/>
                    <a:pt x="7016877" y="2838069"/>
                    <a:pt x="6907784" y="2838069"/>
                  </a:cubicBezTo>
                  <a:lnTo>
                    <a:pt x="197485" y="2838069"/>
                  </a:lnTo>
                  <a:cubicBezTo>
                    <a:pt x="88392" y="2838069"/>
                    <a:pt x="0" y="2749677"/>
                    <a:pt x="0" y="2640584"/>
                  </a:cubicBezTo>
                  <a:close/>
                </a:path>
              </a:pathLst>
            </a:custGeom>
            <a:solidFill>
              <a:srgbClr val="F3F6F9"/>
            </a:solidFill>
            <a:ln w="25400" cap="sq">
              <a:solidFill>
                <a:srgbClr val="F3F6F9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097275" y="4297170"/>
            <a:ext cx="4754880" cy="1097280"/>
            <a:chOff x="0" y="0"/>
            <a:chExt cx="6339840" cy="14630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3398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23825"/>
              <a:ext cx="6339840" cy="1586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1B2A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26 000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097275" y="5310249"/>
            <a:ext cx="475488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E4A62"/>
                </a:solidFill>
                <a:latin typeface="Calibri (MS)"/>
                <a:ea typeface="Calibri (MS)"/>
                <a:cs typeface="Calibri (MS)"/>
                <a:sym typeface="Calibri (MS)"/>
              </a:rPr>
              <a:t>sessions de 20 000 visiteurs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6479538" y="4138170"/>
            <a:ext cx="5328923" cy="2128523"/>
            <a:chOff x="0" y="0"/>
            <a:chExt cx="7105231" cy="283803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105269" cy="2838069"/>
            </a:xfrm>
            <a:custGeom>
              <a:avLst/>
              <a:gdLst/>
              <a:ahLst/>
              <a:cxnLst/>
              <a:rect r="r" b="b" t="t" l="l"/>
              <a:pathLst>
                <a:path h="2838069" w="7105269">
                  <a:moveTo>
                    <a:pt x="0" y="197485"/>
                  </a:moveTo>
                  <a:cubicBezTo>
                    <a:pt x="0" y="88392"/>
                    <a:pt x="88392" y="0"/>
                    <a:pt x="197485" y="0"/>
                  </a:cubicBezTo>
                  <a:lnTo>
                    <a:pt x="6907784" y="0"/>
                  </a:lnTo>
                  <a:cubicBezTo>
                    <a:pt x="7016877" y="0"/>
                    <a:pt x="7105269" y="88392"/>
                    <a:pt x="7105269" y="197485"/>
                  </a:cubicBezTo>
                  <a:lnTo>
                    <a:pt x="7105269" y="2640584"/>
                  </a:lnTo>
                  <a:cubicBezTo>
                    <a:pt x="7105269" y="2749677"/>
                    <a:pt x="7016877" y="2838069"/>
                    <a:pt x="6907784" y="2838069"/>
                  </a:cubicBezTo>
                  <a:lnTo>
                    <a:pt x="197485" y="2838069"/>
                  </a:lnTo>
                  <a:cubicBezTo>
                    <a:pt x="88392" y="2838069"/>
                    <a:pt x="0" y="2749677"/>
                    <a:pt x="0" y="2640584"/>
                  </a:cubicBezTo>
                  <a:close/>
                </a:path>
              </a:pathLst>
            </a:custGeom>
            <a:solidFill>
              <a:srgbClr val="F3F6F9"/>
            </a:solidFill>
            <a:ln w="25400" cap="sq">
              <a:solidFill>
                <a:srgbClr val="F3F6F9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6766555" y="4297170"/>
            <a:ext cx="4754880" cy="1097280"/>
            <a:chOff x="0" y="0"/>
            <a:chExt cx="6339840" cy="14630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3398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23825"/>
              <a:ext cx="6339840" cy="1586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1B2A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 semaines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6766555" y="5310249"/>
            <a:ext cx="475488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E4A62"/>
                </a:solidFill>
                <a:latin typeface="Calibri (MS)"/>
                <a:ea typeface="Calibri (MS)"/>
                <a:cs typeface="Calibri (MS)"/>
                <a:sym typeface="Calibri (MS)"/>
              </a:rPr>
              <a:t>du 1er juin au 2 août 2026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2148818" y="4138170"/>
            <a:ext cx="5328923" cy="2128523"/>
            <a:chOff x="0" y="0"/>
            <a:chExt cx="7105231" cy="283803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105269" cy="2838069"/>
            </a:xfrm>
            <a:custGeom>
              <a:avLst/>
              <a:gdLst/>
              <a:ahLst/>
              <a:cxnLst/>
              <a:rect r="r" b="b" t="t" l="l"/>
              <a:pathLst>
                <a:path h="2838069" w="7105269">
                  <a:moveTo>
                    <a:pt x="0" y="197485"/>
                  </a:moveTo>
                  <a:cubicBezTo>
                    <a:pt x="0" y="88392"/>
                    <a:pt x="88392" y="0"/>
                    <a:pt x="197485" y="0"/>
                  </a:cubicBezTo>
                  <a:lnTo>
                    <a:pt x="6907784" y="0"/>
                  </a:lnTo>
                  <a:cubicBezTo>
                    <a:pt x="7016877" y="0"/>
                    <a:pt x="7105269" y="88392"/>
                    <a:pt x="7105269" y="197485"/>
                  </a:cubicBezTo>
                  <a:lnTo>
                    <a:pt x="7105269" y="2640584"/>
                  </a:lnTo>
                  <a:cubicBezTo>
                    <a:pt x="7105269" y="2749677"/>
                    <a:pt x="7016877" y="2838069"/>
                    <a:pt x="6907784" y="2838069"/>
                  </a:cubicBezTo>
                  <a:lnTo>
                    <a:pt x="197485" y="2838069"/>
                  </a:lnTo>
                  <a:cubicBezTo>
                    <a:pt x="88392" y="2838069"/>
                    <a:pt x="0" y="2749677"/>
                    <a:pt x="0" y="2640584"/>
                  </a:cubicBezTo>
                  <a:close/>
                </a:path>
              </a:pathLst>
            </a:custGeom>
            <a:solidFill>
              <a:srgbClr val="F3F6F9"/>
            </a:solidFill>
            <a:ln w="25400" cap="sq">
              <a:solidFill>
                <a:srgbClr val="F3F6F9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2435835" y="4297170"/>
            <a:ext cx="4754880" cy="1097280"/>
            <a:chOff x="0" y="0"/>
            <a:chExt cx="6339840" cy="14630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3398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23825"/>
              <a:ext cx="6339840" cy="1586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1B2A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 axes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2435835" y="5310249"/>
            <a:ext cx="475488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E4A62"/>
                </a:solidFill>
                <a:latin typeface="Calibri (MS)"/>
                <a:ea typeface="Calibri (MS)"/>
                <a:cs typeface="Calibri (MS)"/>
                <a:sym typeface="Calibri (MS)"/>
              </a:rPr>
              <a:t>parcours, canaux, public, évolution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14395" y="6680706"/>
            <a:ext cx="16459200" cy="2019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2155" indent="-386078" lvl="1">
              <a:lnSpc>
                <a:spcPts val="3839"/>
              </a:lnSpc>
              <a:buFont typeface="Arial"/>
              <a:buChar char="•"/>
            </a:pPr>
            <a:r>
              <a:rPr lang="en-US" sz="3199">
                <a:solidFill>
                  <a:srgbClr val="1B2A3A"/>
                </a:solidFill>
                <a:latin typeface="Calibri (MS)"/>
                <a:ea typeface="Calibri (MS)"/>
                <a:cs typeface="Calibri (MS)"/>
                <a:sym typeface="Calibri (MS)"/>
              </a:rPr>
              <a:t>Qualité vérifiée avant toute analyse : doublons, libellés, cohérence entre réponses et résultat</a:t>
            </a:r>
          </a:p>
          <a:p>
            <a:pPr algn="l" marL="772155" indent="-386078" lvl="1">
              <a:lnSpc>
                <a:spcPts val="3839"/>
              </a:lnSpc>
              <a:buFont typeface="Arial"/>
              <a:buChar char="•"/>
            </a:pPr>
            <a:r>
              <a:rPr lang="en-US" sz="3199">
                <a:solidFill>
                  <a:srgbClr val="1B2A3A"/>
                </a:solidFill>
                <a:latin typeface="Calibri (MS)"/>
                <a:ea typeface="Calibri (MS)"/>
                <a:cs typeface="Calibri (MS)"/>
                <a:sym typeface="Calibri (MS)"/>
              </a:rPr>
              <a:t>Réponses modifiées : la dernière est gardée, cohérente avec le résultat dans 100 % des cas</a:t>
            </a:r>
          </a:p>
          <a:p>
            <a:pPr algn="l" marL="772155" indent="-386078" lvl="1">
              <a:lnSpc>
                <a:spcPts val="3839"/>
              </a:lnSpc>
              <a:buFont typeface="Arial"/>
              <a:buChar char="•"/>
            </a:pPr>
            <a:r>
              <a:rPr lang="en-US" sz="3199">
                <a:solidFill>
                  <a:srgbClr val="1B2A3A"/>
                </a:solidFill>
                <a:latin typeface="Calibri (MS)"/>
                <a:ea typeface="Calibri (MS)"/>
                <a:cs typeface="Calibri (MS)"/>
                <a:sym typeface="Calibri (MS)"/>
              </a:rPr>
              <a:t>Outils : Python, DuckDB (SQL), pandas, matplotlib · tout se régénère depuis les données fournies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6916400" y="9608820"/>
            <a:ext cx="73152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8A8F98"/>
                </a:solidFill>
                <a:latin typeface="Calibri (MS)"/>
                <a:ea typeface="Calibri (MS)"/>
                <a:cs typeface="Calibri (MS)"/>
                <a:sym typeface="Calibri (MS)"/>
              </a:rPr>
              <a:t>2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914395" y="1371090"/>
            <a:ext cx="6215457" cy="1371600"/>
            <a:chOff x="0" y="0"/>
            <a:chExt cx="8287276" cy="1828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287276" cy="1828800"/>
            </a:xfrm>
            <a:custGeom>
              <a:avLst/>
              <a:gdLst/>
              <a:ahLst/>
              <a:cxnLst/>
              <a:rect r="r" b="b" t="t" l="l"/>
              <a:pathLst>
                <a:path h="1828800" w="8287276">
                  <a:moveTo>
                    <a:pt x="0" y="0"/>
                  </a:moveTo>
                  <a:lnTo>
                    <a:pt x="8287276" y="0"/>
                  </a:lnTo>
                  <a:lnTo>
                    <a:pt x="8287276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6418" r="-167753" b="-186418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85725"/>
              <a:ext cx="8287276" cy="1914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8A8F9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Ce que j’ai cherché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19456" cy="10287000"/>
            <a:chOff x="0" y="0"/>
            <a:chExt cx="292608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2608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E6FA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9601200"/>
            <a:ext cx="10972800" cy="548640"/>
            <a:chOff x="0" y="0"/>
            <a:chExt cx="14630400" cy="7315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4630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A8F9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Étude de cas Doctoome · Hamady Sakanoko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2960" y="457200"/>
            <a:ext cx="16642080" cy="1371600"/>
            <a:chOff x="0" y="0"/>
            <a:chExt cx="22189440" cy="1828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189439" cy="1828800"/>
            </a:xfrm>
            <a:custGeom>
              <a:avLst/>
              <a:gdLst/>
              <a:ahLst/>
              <a:cxnLst/>
              <a:rect r="r" b="b" t="t" l="l"/>
              <a:pathLst>
                <a:path h="182880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6418" r="0" b="-18641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14300"/>
              <a:ext cx="22189440" cy="1943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000"/>
                </a:lnSpc>
              </a:pPr>
              <a:r>
                <a:rPr lang="en-US" sz="5000" b="true">
                  <a:solidFill>
                    <a:srgbClr val="1B2A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Résultats clés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10263" y="2090423"/>
            <a:ext cx="8163563" cy="3225803"/>
            <a:chOff x="0" y="0"/>
            <a:chExt cx="10884751" cy="430107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884789" cy="4301109"/>
            </a:xfrm>
            <a:custGeom>
              <a:avLst/>
              <a:gdLst/>
              <a:ahLst/>
              <a:cxnLst/>
              <a:rect r="r" b="b" t="t" l="l"/>
              <a:pathLst>
                <a:path h="4301109" w="10884789">
                  <a:moveTo>
                    <a:pt x="0" y="196596"/>
                  </a:moveTo>
                  <a:cubicBezTo>
                    <a:pt x="0" y="88011"/>
                    <a:pt x="88011" y="0"/>
                    <a:pt x="196596" y="0"/>
                  </a:cubicBezTo>
                  <a:lnTo>
                    <a:pt x="10688193" y="0"/>
                  </a:lnTo>
                  <a:cubicBezTo>
                    <a:pt x="10796778" y="0"/>
                    <a:pt x="10884789" y="88011"/>
                    <a:pt x="10884789" y="196596"/>
                  </a:cubicBezTo>
                  <a:lnTo>
                    <a:pt x="10884789" y="4104513"/>
                  </a:lnTo>
                  <a:cubicBezTo>
                    <a:pt x="10884789" y="4213098"/>
                    <a:pt x="10796778" y="4301109"/>
                    <a:pt x="10688193" y="4301109"/>
                  </a:cubicBezTo>
                  <a:lnTo>
                    <a:pt x="196596" y="4301109"/>
                  </a:lnTo>
                  <a:cubicBezTo>
                    <a:pt x="88011" y="4301109"/>
                    <a:pt x="0" y="4213098"/>
                    <a:pt x="0" y="4104513"/>
                  </a:cubicBezTo>
                  <a:close/>
                </a:path>
              </a:pathLst>
            </a:custGeom>
            <a:solidFill>
              <a:srgbClr val="F3F6F9"/>
            </a:solidFill>
            <a:ln w="25400" cap="sq">
              <a:solidFill>
                <a:srgbClr val="F3F6F9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280160" y="2377440"/>
            <a:ext cx="7315200" cy="1371600"/>
            <a:chOff x="0" y="0"/>
            <a:chExt cx="9753600" cy="1828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7536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20" r="0" b="-5392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33350"/>
              <a:ext cx="9753600" cy="1962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160"/>
                </a:lnSpc>
              </a:pPr>
              <a:r>
                <a:rPr lang="en-US" sz="6800" b="true">
                  <a:solidFill>
                    <a:srgbClr val="2E6FA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43.7 %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280160" y="3728466"/>
            <a:ext cx="7315200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>
                <a:solidFill>
                  <a:srgbClr val="2E4A62"/>
                </a:solidFill>
                <a:latin typeface="Calibri (MS)"/>
                <a:ea typeface="Calibri (MS)"/>
                <a:cs typeface="Calibri (MS)"/>
                <a:sym typeface="Calibri (MS)"/>
              </a:rPr>
              <a:t>des visiteurs obtiennent un résultat ; 35.5 % repartent sans commencer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222743" y="2090423"/>
            <a:ext cx="8163563" cy="3225803"/>
            <a:chOff x="0" y="0"/>
            <a:chExt cx="10884751" cy="43010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884789" cy="4301109"/>
            </a:xfrm>
            <a:custGeom>
              <a:avLst/>
              <a:gdLst/>
              <a:ahLst/>
              <a:cxnLst/>
              <a:rect r="r" b="b" t="t" l="l"/>
              <a:pathLst>
                <a:path h="4301109" w="10884789">
                  <a:moveTo>
                    <a:pt x="0" y="196596"/>
                  </a:moveTo>
                  <a:cubicBezTo>
                    <a:pt x="0" y="88011"/>
                    <a:pt x="88011" y="0"/>
                    <a:pt x="196596" y="0"/>
                  </a:cubicBezTo>
                  <a:lnTo>
                    <a:pt x="10688193" y="0"/>
                  </a:lnTo>
                  <a:cubicBezTo>
                    <a:pt x="10796778" y="0"/>
                    <a:pt x="10884789" y="88011"/>
                    <a:pt x="10884789" y="196596"/>
                  </a:cubicBezTo>
                  <a:lnTo>
                    <a:pt x="10884789" y="4104513"/>
                  </a:lnTo>
                  <a:cubicBezTo>
                    <a:pt x="10884789" y="4213098"/>
                    <a:pt x="10796778" y="4301109"/>
                    <a:pt x="10688193" y="4301109"/>
                  </a:cubicBezTo>
                  <a:lnTo>
                    <a:pt x="196596" y="4301109"/>
                  </a:lnTo>
                  <a:cubicBezTo>
                    <a:pt x="88011" y="4301109"/>
                    <a:pt x="0" y="4213098"/>
                    <a:pt x="0" y="4104513"/>
                  </a:cubicBezTo>
                  <a:close/>
                </a:path>
              </a:pathLst>
            </a:custGeom>
            <a:solidFill>
              <a:srgbClr val="F3F6F9"/>
            </a:solidFill>
            <a:ln w="25400" cap="sq">
              <a:solidFill>
                <a:srgbClr val="F3F6F9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9692640" y="2377440"/>
            <a:ext cx="7315200" cy="1371600"/>
            <a:chOff x="0" y="0"/>
            <a:chExt cx="9753600" cy="1828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7536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20" r="0" b="-5392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33350"/>
              <a:ext cx="9753600" cy="1962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160"/>
                </a:lnSpc>
              </a:pPr>
              <a:r>
                <a:rPr lang="en-US" sz="6800" b="true">
                  <a:solidFill>
                    <a:srgbClr val="C44E5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16.9 %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9692640" y="3728466"/>
            <a:ext cx="7315200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>
                <a:solidFill>
                  <a:srgbClr val="2E4A62"/>
                </a:solidFill>
                <a:latin typeface="Calibri (MS)"/>
                <a:ea typeface="Calibri (MS)"/>
                <a:cs typeface="Calibri (MS)"/>
                <a:sym typeface="Calibri (MS)"/>
              </a:rPr>
              <a:t>de perte entre Q3 et Q4 sur mobile, contre 8.0 % sur ordinateur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810263" y="5656583"/>
            <a:ext cx="8163563" cy="3225803"/>
            <a:chOff x="0" y="0"/>
            <a:chExt cx="10884751" cy="430107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884789" cy="4301109"/>
            </a:xfrm>
            <a:custGeom>
              <a:avLst/>
              <a:gdLst/>
              <a:ahLst/>
              <a:cxnLst/>
              <a:rect r="r" b="b" t="t" l="l"/>
              <a:pathLst>
                <a:path h="4301109" w="10884789">
                  <a:moveTo>
                    <a:pt x="0" y="196596"/>
                  </a:moveTo>
                  <a:cubicBezTo>
                    <a:pt x="0" y="88011"/>
                    <a:pt x="88011" y="0"/>
                    <a:pt x="196596" y="0"/>
                  </a:cubicBezTo>
                  <a:lnTo>
                    <a:pt x="10688193" y="0"/>
                  </a:lnTo>
                  <a:cubicBezTo>
                    <a:pt x="10796778" y="0"/>
                    <a:pt x="10884789" y="88011"/>
                    <a:pt x="10884789" y="196596"/>
                  </a:cubicBezTo>
                  <a:lnTo>
                    <a:pt x="10884789" y="4104513"/>
                  </a:lnTo>
                  <a:cubicBezTo>
                    <a:pt x="10884789" y="4213098"/>
                    <a:pt x="10796778" y="4301109"/>
                    <a:pt x="10688193" y="4301109"/>
                  </a:cubicBezTo>
                  <a:lnTo>
                    <a:pt x="196596" y="4301109"/>
                  </a:lnTo>
                  <a:cubicBezTo>
                    <a:pt x="88011" y="4301109"/>
                    <a:pt x="0" y="4213098"/>
                    <a:pt x="0" y="4104513"/>
                  </a:cubicBezTo>
                  <a:close/>
                </a:path>
              </a:pathLst>
            </a:custGeom>
            <a:solidFill>
              <a:srgbClr val="F3F6F9"/>
            </a:solidFill>
            <a:ln w="25400" cap="sq">
              <a:solidFill>
                <a:srgbClr val="F3F6F9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280160" y="5943600"/>
            <a:ext cx="7315200" cy="1371600"/>
            <a:chOff x="0" y="0"/>
            <a:chExt cx="9753600" cy="1828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7536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20" r="0" b="-5392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33350"/>
              <a:ext cx="9753600" cy="1962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160"/>
                </a:lnSpc>
              </a:pPr>
              <a:r>
                <a:rPr lang="en-US" sz="6800" b="true">
                  <a:solidFill>
                    <a:srgbClr val="2E6FA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64.7 %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280160" y="7294626"/>
            <a:ext cx="7315200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>
                <a:solidFill>
                  <a:srgbClr val="2E4A62"/>
                </a:solidFill>
                <a:latin typeface="Calibri (MS)"/>
                <a:ea typeface="Calibri (MS)"/>
                <a:cs typeface="Calibri (MS)"/>
                <a:sym typeface="Calibri (MS)"/>
              </a:rPr>
              <a:t>de résultats pour l'email, contre 39.0 à 43.1 % pour Google et 28.9 % pour le social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222743" y="5656583"/>
            <a:ext cx="8163563" cy="3225803"/>
            <a:chOff x="0" y="0"/>
            <a:chExt cx="10884751" cy="430107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884789" cy="4301109"/>
            </a:xfrm>
            <a:custGeom>
              <a:avLst/>
              <a:gdLst/>
              <a:ahLst/>
              <a:cxnLst/>
              <a:rect r="r" b="b" t="t" l="l"/>
              <a:pathLst>
                <a:path h="4301109" w="10884789">
                  <a:moveTo>
                    <a:pt x="0" y="196596"/>
                  </a:moveTo>
                  <a:cubicBezTo>
                    <a:pt x="0" y="88011"/>
                    <a:pt x="88011" y="0"/>
                    <a:pt x="196596" y="0"/>
                  </a:cubicBezTo>
                  <a:lnTo>
                    <a:pt x="10688193" y="0"/>
                  </a:lnTo>
                  <a:cubicBezTo>
                    <a:pt x="10796778" y="0"/>
                    <a:pt x="10884789" y="88011"/>
                    <a:pt x="10884789" y="196596"/>
                  </a:cubicBezTo>
                  <a:lnTo>
                    <a:pt x="10884789" y="4104513"/>
                  </a:lnTo>
                  <a:cubicBezTo>
                    <a:pt x="10884789" y="4213098"/>
                    <a:pt x="10796778" y="4301109"/>
                    <a:pt x="10688193" y="4301109"/>
                  </a:cubicBezTo>
                  <a:lnTo>
                    <a:pt x="196596" y="4301109"/>
                  </a:lnTo>
                  <a:cubicBezTo>
                    <a:pt x="88011" y="4301109"/>
                    <a:pt x="0" y="4213098"/>
                    <a:pt x="0" y="4104513"/>
                  </a:cubicBezTo>
                  <a:close/>
                </a:path>
              </a:pathLst>
            </a:custGeom>
            <a:solidFill>
              <a:srgbClr val="F3F6F9"/>
            </a:solidFill>
            <a:ln w="25400" cap="sq">
              <a:solidFill>
                <a:srgbClr val="F3F6F9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9692640" y="5943600"/>
            <a:ext cx="7315200" cy="1371600"/>
            <a:chOff x="0" y="0"/>
            <a:chExt cx="9753600" cy="1828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7536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20" r="0" b="-5392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33350"/>
              <a:ext cx="9753600" cy="1962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160"/>
                </a:lnSpc>
              </a:pPr>
              <a:r>
                <a:rPr lang="en-US" sz="6800" b="true">
                  <a:solidFill>
                    <a:srgbClr val="DD845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63.1 %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9692640" y="7294626"/>
            <a:ext cx="7315200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>
                <a:solidFill>
                  <a:srgbClr val="2E4A62"/>
                </a:solidFill>
                <a:latin typeface="Calibri (MS)"/>
                <a:ea typeface="Calibri (MS)"/>
                <a:cs typeface="Calibri (MS)"/>
                <a:sym typeface="Calibri (MS)"/>
              </a:rPr>
              <a:t>des possible_risk viennent des 45 ans et plus : l'âge est le levier de ciblage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6916400" y="9608820"/>
            <a:ext cx="73152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8A8F98"/>
                </a:solidFill>
                <a:latin typeface="Calibri (MS)"/>
                <a:ea typeface="Calibri (MS)"/>
                <a:cs typeface="Calibri (MS)"/>
                <a:sym typeface="Calibri (MS)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19456" cy="10287000"/>
            <a:chOff x="0" y="0"/>
            <a:chExt cx="292608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2608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E6FA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9601200"/>
            <a:ext cx="10972800" cy="548640"/>
            <a:chOff x="0" y="0"/>
            <a:chExt cx="14630400" cy="7315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4630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A8F9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Étude de cas Doctoome · Hamady Sakanoko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2960" y="457200"/>
            <a:ext cx="16642080" cy="1371600"/>
            <a:chOff x="0" y="0"/>
            <a:chExt cx="22189440" cy="1828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189439" cy="1828800"/>
            </a:xfrm>
            <a:custGeom>
              <a:avLst/>
              <a:gdLst/>
              <a:ahLst/>
              <a:cxnLst/>
              <a:rect r="r" b="b" t="t" l="l"/>
              <a:pathLst>
                <a:path h="182880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6418" r="0" b="-18641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04775"/>
              <a:ext cx="22189440" cy="1933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999"/>
                </a:lnSpc>
              </a:pPr>
              <a:r>
                <a:rPr lang="en-US" sz="4999" b="true">
                  <a:solidFill>
                    <a:srgbClr val="1B2A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Parcours du questionnaire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10263" y="1779527"/>
            <a:ext cx="16667483" cy="939803"/>
            <a:chOff x="0" y="0"/>
            <a:chExt cx="22223311" cy="125307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223349" cy="1253109"/>
            </a:xfrm>
            <a:custGeom>
              <a:avLst/>
              <a:gdLst/>
              <a:ahLst/>
              <a:cxnLst/>
              <a:rect r="r" b="b" t="t" l="l"/>
              <a:pathLst>
                <a:path h="1253109" w="22223349">
                  <a:moveTo>
                    <a:pt x="0" y="0"/>
                  </a:moveTo>
                  <a:lnTo>
                    <a:pt x="22223349" y="0"/>
                  </a:lnTo>
                  <a:lnTo>
                    <a:pt x="22223349" y="1253109"/>
                  </a:lnTo>
                  <a:lnTo>
                    <a:pt x="0" y="1253109"/>
                  </a:lnTo>
                  <a:close/>
                </a:path>
              </a:pathLst>
            </a:custGeom>
            <a:solidFill>
              <a:srgbClr val="F3F6F9"/>
            </a:solidFill>
            <a:ln w="25400" cap="sq">
              <a:solidFill>
                <a:srgbClr val="F3F6F9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810263" y="1779527"/>
            <a:ext cx="135131" cy="939803"/>
            <a:chOff x="0" y="0"/>
            <a:chExt cx="180175" cy="125307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0213" cy="1253109"/>
            </a:xfrm>
            <a:custGeom>
              <a:avLst/>
              <a:gdLst/>
              <a:ahLst/>
              <a:cxnLst/>
              <a:rect r="r" b="b" t="t" l="l"/>
              <a:pathLst>
                <a:path h="1253109" w="180213">
                  <a:moveTo>
                    <a:pt x="0" y="0"/>
                  </a:moveTo>
                  <a:lnTo>
                    <a:pt x="180213" y="0"/>
                  </a:lnTo>
                  <a:lnTo>
                    <a:pt x="180213" y="1253109"/>
                  </a:lnTo>
                  <a:lnTo>
                    <a:pt x="0" y="1253109"/>
                  </a:lnTo>
                  <a:close/>
                </a:path>
              </a:pathLst>
            </a:custGeom>
            <a:solidFill>
              <a:srgbClr val="2E6FA7"/>
            </a:solidFill>
            <a:ln w="25400" cap="sq">
              <a:solidFill>
                <a:srgbClr val="2E6FA7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188720" y="1792224"/>
            <a:ext cx="16093440" cy="914400"/>
            <a:chOff x="0" y="0"/>
            <a:chExt cx="21457920" cy="1219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4579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2936" r="0" b="-29293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76200"/>
              <a:ext cx="2145792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39"/>
                </a:lnSpc>
              </a:pPr>
              <a:r>
                <a:rPr lang="en-US" sz="3199" b="true">
                  <a:solidFill>
                    <a:srgbClr val="2E6FA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43.7 % des visiteurs vont jusqu'au résultat</a:t>
              </a:r>
            </a:p>
          </p:txBody>
        </p:sp>
      </p:grpSp>
      <p:pic>
        <p:nvPicPr>
          <p:cNvPr name="Picture 17" id="1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329184" y="1773936"/>
            <a:ext cx="13825728" cy="8796528"/>
          </a:xfrm>
          <a:prstGeom prst="rect">
            <a:avLst/>
          </a:prstGeom>
        </p:spPr>
      </p:pic>
      <p:grpSp>
        <p:nvGrpSpPr>
          <p:cNvPr name="Group 18" id="18"/>
          <p:cNvGrpSpPr/>
          <p:nvPr/>
        </p:nvGrpSpPr>
        <p:grpSpPr>
          <a:xfrm rot="0">
            <a:off x="12788903" y="3004823"/>
            <a:ext cx="4688843" cy="2128523"/>
            <a:chOff x="0" y="0"/>
            <a:chExt cx="6251791" cy="283803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251829" cy="2838069"/>
            </a:xfrm>
            <a:custGeom>
              <a:avLst/>
              <a:gdLst/>
              <a:ahLst/>
              <a:cxnLst/>
              <a:rect r="r" b="b" t="t" l="l"/>
              <a:pathLst>
                <a:path h="2838069" w="6251829">
                  <a:moveTo>
                    <a:pt x="0" y="197485"/>
                  </a:moveTo>
                  <a:cubicBezTo>
                    <a:pt x="0" y="88392"/>
                    <a:pt x="88392" y="0"/>
                    <a:pt x="197485" y="0"/>
                  </a:cubicBezTo>
                  <a:lnTo>
                    <a:pt x="6054344" y="0"/>
                  </a:lnTo>
                  <a:cubicBezTo>
                    <a:pt x="6163437" y="0"/>
                    <a:pt x="6251829" y="88392"/>
                    <a:pt x="6251829" y="197485"/>
                  </a:cubicBezTo>
                  <a:lnTo>
                    <a:pt x="6251829" y="2640584"/>
                  </a:lnTo>
                  <a:cubicBezTo>
                    <a:pt x="6251829" y="2749677"/>
                    <a:pt x="6163437" y="2838069"/>
                    <a:pt x="6054344" y="2838069"/>
                  </a:cubicBezTo>
                  <a:lnTo>
                    <a:pt x="197485" y="2838069"/>
                  </a:lnTo>
                  <a:cubicBezTo>
                    <a:pt x="88392" y="2838069"/>
                    <a:pt x="0" y="2749677"/>
                    <a:pt x="0" y="2640584"/>
                  </a:cubicBezTo>
                  <a:close/>
                </a:path>
              </a:pathLst>
            </a:custGeom>
            <a:solidFill>
              <a:srgbClr val="F3F6F9"/>
            </a:solidFill>
            <a:ln w="25400" cap="sq">
              <a:solidFill>
                <a:srgbClr val="F3F6F9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3075920" y="3163824"/>
            <a:ext cx="4114800" cy="1097280"/>
            <a:chOff x="0" y="0"/>
            <a:chExt cx="5486400" cy="14630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23825"/>
              <a:ext cx="5486400" cy="1586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C44E5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-35.5 %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3075920" y="4176903"/>
            <a:ext cx="41148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E4A62"/>
                </a:solidFill>
                <a:latin typeface="Calibri (MS)"/>
                <a:ea typeface="Calibri (MS)"/>
                <a:cs typeface="Calibri (MS)"/>
                <a:sym typeface="Calibri (MS)"/>
              </a:rPr>
              <a:t>repartent sans commencer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2788903" y="5290823"/>
            <a:ext cx="4688843" cy="2128523"/>
            <a:chOff x="0" y="0"/>
            <a:chExt cx="6251791" cy="283803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251829" cy="2838069"/>
            </a:xfrm>
            <a:custGeom>
              <a:avLst/>
              <a:gdLst/>
              <a:ahLst/>
              <a:cxnLst/>
              <a:rect r="r" b="b" t="t" l="l"/>
              <a:pathLst>
                <a:path h="2838069" w="6251829">
                  <a:moveTo>
                    <a:pt x="0" y="197485"/>
                  </a:moveTo>
                  <a:cubicBezTo>
                    <a:pt x="0" y="88392"/>
                    <a:pt x="88392" y="0"/>
                    <a:pt x="197485" y="0"/>
                  </a:cubicBezTo>
                  <a:lnTo>
                    <a:pt x="6054344" y="0"/>
                  </a:lnTo>
                  <a:cubicBezTo>
                    <a:pt x="6163437" y="0"/>
                    <a:pt x="6251829" y="88392"/>
                    <a:pt x="6251829" y="197485"/>
                  </a:cubicBezTo>
                  <a:lnTo>
                    <a:pt x="6251829" y="2640584"/>
                  </a:lnTo>
                  <a:cubicBezTo>
                    <a:pt x="6251829" y="2749677"/>
                    <a:pt x="6163437" y="2838069"/>
                    <a:pt x="6054344" y="2838069"/>
                  </a:cubicBezTo>
                  <a:lnTo>
                    <a:pt x="197485" y="2838069"/>
                  </a:lnTo>
                  <a:cubicBezTo>
                    <a:pt x="88392" y="2838069"/>
                    <a:pt x="0" y="2749677"/>
                    <a:pt x="0" y="2640584"/>
                  </a:cubicBezTo>
                  <a:close/>
                </a:path>
              </a:pathLst>
            </a:custGeom>
            <a:solidFill>
              <a:srgbClr val="F3F6F9"/>
            </a:solidFill>
            <a:ln w="25400" cap="sq">
              <a:solidFill>
                <a:srgbClr val="F3F6F9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3075920" y="5449824"/>
            <a:ext cx="4114800" cy="1097280"/>
            <a:chOff x="0" y="0"/>
            <a:chExt cx="5486400" cy="14630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23825"/>
              <a:ext cx="5486400" cy="1586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C44E5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-13.5 %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3075920" y="6462903"/>
            <a:ext cx="4114800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E4A62"/>
                </a:solidFill>
                <a:latin typeface="Calibri (MS)"/>
                <a:ea typeface="Calibri (MS)"/>
                <a:cs typeface="Calibri (MS)"/>
                <a:sym typeface="Calibri (MS)"/>
              </a:rPr>
              <a:t>entre Q3 et Q4, 2× plus qu'aux autres questions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2788903" y="7576823"/>
            <a:ext cx="4688843" cy="2128523"/>
            <a:chOff x="0" y="0"/>
            <a:chExt cx="6251791" cy="283803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251829" cy="2838069"/>
            </a:xfrm>
            <a:custGeom>
              <a:avLst/>
              <a:gdLst/>
              <a:ahLst/>
              <a:cxnLst/>
              <a:rect r="r" b="b" t="t" l="l"/>
              <a:pathLst>
                <a:path h="2838069" w="6251829">
                  <a:moveTo>
                    <a:pt x="0" y="197485"/>
                  </a:moveTo>
                  <a:cubicBezTo>
                    <a:pt x="0" y="88392"/>
                    <a:pt x="88392" y="0"/>
                    <a:pt x="197485" y="0"/>
                  </a:cubicBezTo>
                  <a:lnTo>
                    <a:pt x="6054344" y="0"/>
                  </a:lnTo>
                  <a:cubicBezTo>
                    <a:pt x="6163437" y="0"/>
                    <a:pt x="6251829" y="88392"/>
                    <a:pt x="6251829" y="197485"/>
                  </a:cubicBezTo>
                  <a:lnTo>
                    <a:pt x="6251829" y="2640584"/>
                  </a:lnTo>
                  <a:cubicBezTo>
                    <a:pt x="6251829" y="2749677"/>
                    <a:pt x="6163437" y="2838069"/>
                    <a:pt x="6054344" y="2838069"/>
                  </a:cubicBezTo>
                  <a:lnTo>
                    <a:pt x="197485" y="2838069"/>
                  </a:lnTo>
                  <a:cubicBezTo>
                    <a:pt x="88392" y="2838069"/>
                    <a:pt x="0" y="2749677"/>
                    <a:pt x="0" y="2640584"/>
                  </a:cubicBezTo>
                  <a:close/>
                </a:path>
              </a:pathLst>
            </a:custGeom>
            <a:solidFill>
              <a:srgbClr val="F3F6F9"/>
            </a:solidFill>
            <a:ln w="25400" cap="sq">
              <a:solidFill>
                <a:srgbClr val="F3F6F9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3075920" y="7735824"/>
            <a:ext cx="4114800" cy="1097280"/>
            <a:chOff x="0" y="0"/>
            <a:chExt cx="5486400" cy="14630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4864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23825"/>
              <a:ext cx="5486400" cy="1586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2E6FA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99.1 %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3075920" y="8748903"/>
            <a:ext cx="4114800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E4A62"/>
                </a:solidFill>
                <a:latin typeface="Calibri (MS)"/>
                <a:ea typeface="Calibri (MS)"/>
                <a:cs typeface="Calibri (MS)"/>
                <a:sym typeface="Calibri (MS)"/>
              </a:rPr>
              <a:t>de ceux qui répondent à Q5 obtiennent un résultat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6916400" y="9608820"/>
            <a:ext cx="73152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8A8F98"/>
                </a:solidFill>
                <a:latin typeface="Calibri (MS)"/>
                <a:ea typeface="Calibri (MS)"/>
                <a:cs typeface="Calibri (MS)"/>
                <a:sym typeface="Calibri (MS)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19456" cy="10287000"/>
            <a:chOff x="0" y="0"/>
            <a:chExt cx="292608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2608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E6FA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9601200"/>
            <a:ext cx="10972800" cy="548640"/>
            <a:chOff x="0" y="0"/>
            <a:chExt cx="14630400" cy="7315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4630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A8F9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Étude de cas Doctoome · Hamady Sakanoko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2960" y="457200"/>
            <a:ext cx="16642080" cy="1371600"/>
            <a:chOff x="0" y="0"/>
            <a:chExt cx="22189440" cy="1828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189439" cy="1828800"/>
            </a:xfrm>
            <a:custGeom>
              <a:avLst/>
              <a:gdLst/>
              <a:ahLst/>
              <a:cxnLst/>
              <a:rect r="r" b="b" t="t" l="l"/>
              <a:pathLst>
                <a:path h="182880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6418" r="0" b="-18641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04775"/>
              <a:ext cx="22189440" cy="1933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999"/>
                </a:lnSpc>
              </a:pPr>
              <a:r>
                <a:rPr lang="en-US" sz="4999" b="true">
                  <a:solidFill>
                    <a:srgbClr val="1B2A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Parcours selon l'appareil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10263" y="1779527"/>
            <a:ext cx="16667483" cy="939803"/>
            <a:chOff x="0" y="0"/>
            <a:chExt cx="22223311" cy="125307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223349" cy="1253109"/>
            </a:xfrm>
            <a:custGeom>
              <a:avLst/>
              <a:gdLst/>
              <a:ahLst/>
              <a:cxnLst/>
              <a:rect r="r" b="b" t="t" l="l"/>
              <a:pathLst>
                <a:path h="1253109" w="22223349">
                  <a:moveTo>
                    <a:pt x="0" y="0"/>
                  </a:moveTo>
                  <a:lnTo>
                    <a:pt x="22223349" y="0"/>
                  </a:lnTo>
                  <a:lnTo>
                    <a:pt x="22223349" y="1253109"/>
                  </a:lnTo>
                  <a:lnTo>
                    <a:pt x="0" y="1253109"/>
                  </a:lnTo>
                  <a:close/>
                </a:path>
              </a:pathLst>
            </a:custGeom>
            <a:solidFill>
              <a:srgbClr val="F3F6F9"/>
            </a:solidFill>
            <a:ln w="25400" cap="sq">
              <a:solidFill>
                <a:srgbClr val="F3F6F9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810263" y="1779527"/>
            <a:ext cx="135131" cy="939803"/>
            <a:chOff x="0" y="0"/>
            <a:chExt cx="180175" cy="125307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0213" cy="1253109"/>
            </a:xfrm>
            <a:custGeom>
              <a:avLst/>
              <a:gdLst/>
              <a:ahLst/>
              <a:cxnLst/>
              <a:rect r="r" b="b" t="t" l="l"/>
              <a:pathLst>
                <a:path h="1253109" w="180213">
                  <a:moveTo>
                    <a:pt x="0" y="0"/>
                  </a:moveTo>
                  <a:lnTo>
                    <a:pt x="180213" y="0"/>
                  </a:lnTo>
                  <a:lnTo>
                    <a:pt x="180213" y="1253109"/>
                  </a:lnTo>
                  <a:lnTo>
                    <a:pt x="0" y="1253109"/>
                  </a:lnTo>
                  <a:close/>
                </a:path>
              </a:pathLst>
            </a:custGeom>
            <a:solidFill>
              <a:srgbClr val="2E6FA7"/>
            </a:solidFill>
            <a:ln w="25400" cap="sq">
              <a:solidFill>
                <a:srgbClr val="2E6FA7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188720" y="1792224"/>
            <a:ext cx="16093440" cy="914400"/>
            <a:chOff x="0" y="0"/>
            <a:chExt cx="21457920" cy="1219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4579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2936" r="0" b="-29293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76200"/>
              <a:ext cx="2145792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39"/>
                </a:lnSpc>
              </a:pPr>
              <a:r>
                <a:rPr lang="en-US" sz="3199" b="true">
                  <a:solidFill>
                    <a:srgbClr val="2E6FA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 perte à la Q4 vient surtout du mobile</a:t>
              </a:r>
            </a:p>
          </p:txBody>
        </p:sp>
      </p:grpSp>
      <p:pic>
        <p:nvPicPr>
          <p:cNvPr name="Picture 17" id="1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329184" y="1773936"/>
            <a:ext cx="13825728" cy="8796528"/>
          </a:xfrm>
          <a:prstGeom prst="rect">
            <a:avLst/>
          </a:prstGeom>
        </p:spPr>
      </p:pic>
      <p:grpSp>
        <p:nvGrpSpPr>
          <p:cNvPr name="Group 18" id="18"/>
          <p:cNvGrpSpPr/>
          <p:nvPr/>
        </p:nvGrpSpPr>
        <p:grpSpPr>
          <a:xfrm rot="0">
            <a:off x="12788903" y="3004823"/>
            <a:ext cx="4688843" cy="2128523"/>
            <a:chOff x="0" y="0"/>
            <a:chExt cx="6251791" cy="283803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251829" cy="2838069"/>
            </a:xfrm>
            <a:custGeom>
              <a:avLst/>
              <a:gdLst/>
              <a:ahLst/>
              <a:cxnLst/>
              <a:rect r="r" b="b" t="t" l="l"/>
              <a:pathLst>
                <a:path h="2838069" w="6251829">
                  <a:moveTo>
                    <a:pt x="0" y="197485"/>
                  </a:moveTo>
                  <a:cubicBezTo>
                    <a:pt x="0" y="88392"/>
                    <a:pt x="88392" y="0"/>
                    <a:pt x="197485" y="0"/>
                  </a:cubicBezTo>
                  <a:lnTo>
                    <a:pt x="6054344" y="0"/>
                  </a:lnTo>
                  <a:cubicBezTo>
                    <a:pt x="6163437" y="0"/>
                    <a:pt x="6251829" y="88392"/>
                    <a:pt x="6251829" y="197485"/>
                  </a:cubicBezTo>
                  <a:lnTo>
                    <a:pt x="6251829" y="2640584"/>
                  </a:lnTo>
                  <a:cubicBezTo>
                    <a:pt x="6251829" y="2749677"/>
                    <a:pt x="6163437" y="2838069"/>
                    <a:pt x="6054344" y="2838069"/>
                  </a:cubicBezTo>
                  <a:lnTo>
                    <a:pt x="197485" y="2838069"/>
                  </a:lnTo>
                  <a:cubicBezTo>
                    <a:pt x="88392" y="2838069"/>
                    <a:pt x="0" y="2749677"/>
                    <a:pt x="0" y="2640584"/>
                  </a:cubicBezTo>
                  <a:close/>
                </a:path>
              </a:pathLst>
            </a:custGeom>
            <a:solidFill>
              <a:srgbClr val="F3F6F9"/>
            </a:solidFill>
            <a:ln w="25400" cap="sq">
              <a:solidFill>
                <a:srgbClr val="F3F6F9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3075920" y="3163824"/>
            <a:ext cx="4114800" cy="1097280"/>
            <a:chOff x="0" y="0"/>
            <a:chExt cx="5486400" cy="14630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23825"/>
              <a:ext cx="5486400" cy="1586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C44E5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16.9 %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3075920" y="4176903"/>
            <a:ext cx="4114800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E4A62"/>
                </a:solidFill>
                <a:latin typeface="Calibri (MS)"/>
                <a:ea typeface="Calibri (MS)"/>
                <a:cs typeface="Calibri (MS)"/>
                <a:sym typeface="Calibri (MS)"/>
              </a:rPr>
              <a:t>de perte entre Q3 et Q4 sur mobile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2788903" y="5290823"/>
            <a:ext cx="4688843" cy="2128523"/>
            <a:chOff x="0" y="0"/>
            <a:chExt cx="6251791" cy="283803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251829" cy="2838069"/>
            </a:xfrm>
            <a:custGeom>
              <a:avLst/>
              <a:gdLst/>
              <a:ahLst/>
              <a:cxnLst/>
              <a:rect r="r" b="b" t="t" l="l"/>
              <a:pathLst>
                <a:path h="2838069" w="6251829">
                  <a:moveTo>
                    <a:pt x="0" y="197485"/>
                  </a:moveTo>
                  <a:cubicBezTo>
                    <a:pt x="0" y="88392"/>
                    <a:pt x="88392" y="0"/>
                    <a:pt x="197485" y="0"/>
                  </a:cubicBezTo>
                  <a:lnTo>
                    <a:pt x="6054344" y="0"/>
                  </a:lnTo>
                  <a:cubicBezTo>
                    <a:pt x="6163437" y="0"/>
                    <a:pt x="6251829" y="88392"/>
                    <a:pt x="6251829" y="197485"/>
                  </a:cubicBezTo>
                  <a:lnTo>
                    <a:pt x="6251829" y="2640584"/>
                  </a:lnTo>
                  <a:cubicBezTo>
                    <a:pt x="6251829" y="2749677"/>
                    <a:pt x="6163437" y="2838069"/>
                    <a:pt x="6054344" y="2838069"/>
                  </a:cubicBezTo>
                  <a:lnTo>
                    <a:pt x="197485" y="2838069"/>
                  </a:lnTo>
                  <a:cubicBezTo>
                    <a:pt x="88392" y="2838069"/>
                    <a:pt x="0" y="2749677"/>
                    <a:pt x="0" y="2640584"/>
                  </a:cubicBezTo>
                  <a:close/>
                </a:path>
              </a:pathLst>
            </a:custGeom>
            <a:solidFill>
              <a:srgbClr val="F3F6F9"/>
            </a:solidFill>
            <a:ln w="25400" cap="sq">
              <a:solidFill>
                <a:srgbClr val="F3F6F9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3075920" y="5449824"/>
            <a:ext cx="4114800" cy="1097280"/>
            <a:chOff x="0" y="0"/>
            <a:chExt cx="5486400" cy="14630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23825"/>
              <a:ext cx="5486400" cy="1586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2E6FA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8.0 %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3075920" y="6462903"/>
            <a:ext cx="41148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E4A62"/>
                </a:solidFill>
                <a:latin typeface="Calibri (MS)"/>
                <a:ea typeface="Calibri (MS)"/>
                <a:cs typeface="Calibri (MS)"/>
                <a:sym typeface="Calibri (MS)"/>
              </a:rPr>
              <a:t>sur ordinateur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893040" y="7587615"/>
            <a:ext cx="4480560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E4A62"/>
                </a:solidFill>
                <a:latin typeface="Calibri (MS)"/>
                <a:ea typeface="Calibri (MS)"/>
                <a:cs typeface="Calibri (MS)"/>
                <a:sym typeface="Calibri (MS)"/>
              </a:rPr>
              <a:t>La Q4 est la seule question à 4 choix, et la seule sur le mode de vie (activité physique). Piste : son affichage sur petit écran.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6916400" y="9608820"/>
            <a:ext cx="73152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8A8F98"/>
                </a:solidFill>
                <a:latin typeface="Calibri (MS)"/>
                <a:ea typeface="Calibri (MS)"/>
                <a:cs typeface="Calibri (MS)"/>
                <a:sym typeface="Calibri (MS)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19456" cy="10287000"/>
            <a:chOff x="0" y="0"/>
            <a:chExt cx="292608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2608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E6FA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9601200"/>
            <a:ext cx="10972800" cy="548640"/>
            <a:chOff x="0" y="0"/>
            <a:chExt cx="14630400" cy="7315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4630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A8F9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Étude de cas Doctoome · Hamady Sakanoko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2960" y="457200"/>
            <a:ext cx="16642080" cy="1371600"/>
            <a:chOff x="0" y="0"/>
            <a:chExt cx="22189440" cy="1828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189439" cy="1828800"/>
            </a:xfrm>
            <a:custGeom>
              <a:avLst/>
              <a:gdLst/>
              <a:ahLst/>
              <a:cxnLst/>
              <a:rect r="r" b="b" t="t" l="l"/>
              <a:pathLst>
                <a:path h="182880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6418" r="0" b="-18641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04775"/>
              <a:ext cx="22189440" cy="1933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999"/>
                </a:lnSpc>
              </a:pPr>
              <a:r>
                <a:rPr lang="en-US" sz="4999" b="true">
                  <a:solidFill>
                    <a:srgbClr val="1B2A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Canaux d'acquisition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10263" y="1779527"/>
            <a:ext cx="16667483" cy="939803"/>
            <a:chOff x="0" y="0"/>
            <a:chExt cx="22223311" cy="125307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223349" cy="1253109"/>
            </a:xfrm>
            <a:custGeom>
              <a:avLst/>
              <a:gdLst/>
              <a:ahLst/>
              <a:cxnLst/>
              <a:rect r="r" b="b" t="t" l="l"/>
              <a:pathLst>
                <a:path h="1253109" w="22223349">
                  <a:moveTo>
                    <a:pt x="0" y="0"/>
                  </a:moveTo>
                  <a:lnTo>
                    <a:pt x="22223349" y="0"/>
                  </a:lnTo>
                  <a:lnTo>
                    <a:pt x="22223349" y="1253109"/>
                  </a:lnTo>
                  <a:lnTo>
                    <a:pt x="0" y="1253109"/>
                  </a:lnTo>
                  <a:close/>
                </a:path>
              </a:pathLst>
            </a:custGeom>
            <a:solidFill>
              <a:srgbClr val="F3F6F9"/>
            </a:solidFill>
            <a:ln w="25400" cap="sq">
              <a:solidFill>
                <a:srgbClr val="F3F6F9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810263" y="1779527"/>
            <a:ext cx="135131" cy="939803"/>
            <a:chOff x="0" y="0"/>
            <a:chExt cx="180175" cy="125307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0213" cy="1253109"/>
            </a:xfrm>
            <a:custGeom>
              <a:avLst/>
              <a:gdLst/>
              <a:ahLst/>
              <a:cxnLst/>
              <a:rect r="r" b="b" t="t" l="l"/>
              <a:pathLst>
                <a:path h="1253109" w="180213">
                  <a:moveTo>
                    <a:pt x="0" y="0"/>
                  </a:moveTo>
                  <a:lnTo>
                    <a:pt x="180213" y="0"/>
                  </a:lnTo>
                  <a:lnTo>
                    <a:pt x="180213" y="1253109"/>
                  </a:lnTo>
                  <a:lnTo>
                    <a:pt x="0" y="1253109"/>
                  </a:lnTo>
                  <a:close/>
                </a:path>
              </a:pathLst>
            </a:custGeom>
            <a:solidFill>
              <a:srgbClr val="2E6FA7"/>
            </a:solidFill>
            <a:ln w="25400" cap="sq">
              <a:solidFill>
                <a:srgbClr val="2E6FA7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188720" y="1792224"/>
            <a:ext cx="16093440" cy="914400"/>
            <a:chOff x="0" y="0"/>
            <a:chExt cx="21457920" cy="1219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4579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2936" r="0" b="-29293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76200"/>
              <a:ext cx="2145792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39"/>
                </a:lnSpc>
              </a:pPr>
              <a:r>
                <a:rPr lang="en-US" sz="3199" b="true">
                  <a:solidFill>
                    <a:srgbClr val="2E6FA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Les canaux qui amènent le plus de trafic ne sont pas ceux qui transforment le mieux</a:t>
              </a:r>
            </a:p>
          </p:txBody>
        </p:sp>
      </p:grpSp>
      <p:pic>
        <p:nvPicPr>
          <p:cNvPr name="Picture 17" id="1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329184" y="1773936"/>
            <a:ext cx="13825728" cy="8796528"/>
          </a:xfrm>
          <a:prstGeom prst="rect">
            <a:avLst/>
          </a:prstGeom>
        </p:spPr>
      </p:pic>
      <p:grpSp>
        <p:nvGrpSpPr>
          <p:cNvPr name="Group 18" id="18"/>
          <p:cNvGrpSpPr/>
          <p:nvPr/>
        </p:nvGrpSpPr>
        <p:grpSpPr>
          <a:xfrm rot="0">
            <a:off x="12788903" y="3004823"/>
            <a:ext cx="4688843" cy="2128523"/>
            <a:chOff x="0" y="0"/>
            <a:chExt cx="6251791" cy="283803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251829" cy="2838069"/>
            </a:xfrm>
            <a:custGeom>
              <a:avLst/>
              <a:gdLst/>
              <a:ahLst/>
              <a:cxnLst/>
              <a:rect r="r" b="b" t="t" l="l"/>
              <a:pathLst>
                <a:path h="2838069" w="6251829">
                  <a:moveTo>
                    <a:pt x="0" y="197485"/>
                  </a:moveTo>
                  <a:cubicBezTo>
                    <a:pt x="0" y="88392"/>
                    <a:pt x="88392" y="0"/>
                    <a:pt x="197485" y="0"/>
                  </a:cubicBezTo>
                  <a:lnTo>
                    <a:pt x="6054344" y="0"/>
                  </a:lnTo>
                  <a:cubicBezTo>
                    <a:pt x="6163437" y="0"/>
                    <a:pt x="6251829" y="88392"/>
                    <a:pt x="6251829" y="197485"/>
                  </a:cubicBezTo>
                  <a:lnTo>
                    <a:pt x="6251829" y="2640584"/>
                  </a:lnTo>
                  <a:cubicBezTo>
                    <a:pt x="6251829" y="2749677"/>
                    <a:pt x="6163437" y="2838069"/>
                    <a:pt x="6054344" y="2838069"/>
                  </a:cubicBezTo>
                  <a:lnTo>
                    <a:pt x="197485" y="2838069"/>
                  </a:lnTo>
                  <a:cubicBezTo>
                    <a:pt x="88392" y="2838069"/>
                    <a:pt x="0" y="2749677"/>
                    <a:pt x="0" y="2640584"/>
                  </a:cubicBezTo>
                  <a:close/>
                </a:path>
              </a:pathLst>
            </a:custGeom>
            <a:solidFill>
              <a:srgbClr val="F3F6F9"/>
            </a:solidFill>
            <a:ln w="25400" cap="sq">
              <a:solidFill>
                <a:srgbClr val="F3F6F9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3075920" y="3163824"/>
            <a:ext cx="4114800" cy="1097280"/>
            <a:chOff x="0" y="0"/>
            <a:chExt cx="5486400" cy="14630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23825"/>
              <a:ext cx="5486400" cy="1586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1B2A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53.3 %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3075920" y="4176903"/>
            <a:ext cx="4114800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E4A62"/>
                </a:solidFill>
                <a:latin typeface="Calibri (MS)"/>
                <a:ea typeface="Calibri (MS)"/>
                <a:cs typeface="Calibri (MS)"/>
                <a:sym typeface="Calibri (MS)"/>
              </a:rPr>
              <a:t>du trafic vient de Google, qui transforme à 39.0-43.1 %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2788903" y="5290823"/>
            <a:ext cx="4688843" cy="2128523"/>
            <a:chOff x="0" y="0"/>
            <a:chExt cx="6251791" cy="283803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251829" cy="2838069"/>
            </a:xfrm>
            <a:custGeom>
              <a:avLst/>
              <a:gdLst/>
              <a:ahLst/>
              <a:cxnLst/>
              <a:rect r="r" b="b" t="t" l="l"/>
              <a:pathLst>
                <a:path h="2838069" w="6251829">
                  <a:moveTo>
                    <a:pt x="0" y="197485"/>
                  </a:moveTo>
                  <a:cubicBezTo>
                    <a:pt x="0" y="88392"/>
                    <a:pt x="88392" y="0"/>
                    <a:pt x="197485" y="0"/>
                  </a:cubicBezTo>
                  <a:lnTo>
                    <a:pt x="6054344" y="0"/>
                  </a:lnTo>
                  <a:cubicBezTo>
                    <a:pt x="6163437" y="0"/>
                    <a:pt x="6251829" y="88392"/>
                    <a:pt x="6251829" y="197485"/>
                  </a:cubicBezTo>
                  <a:lnTo>
                    <a:pt x="6251829" y="2640584"/>
                  </a:lnTo>
                  <a:cubicBezTo>
                    <a:pt x="6251829" y="2749677"/>
                    <a:pt x="6163437" y="2838069"/>
                    <a:pt x="6054344" y="2838069"/>
                  </a:cubicBezTo>
                  <a:lnTo>
                    <a:pt x="197485" y="2838069"/>
                  </a:lnTo>
                  <a:cubicBezTo>
                    <a:pt x="88392" y="2838069"/>
                    <a:pt x="0" y="2749677"/>
                    <a:pt x="0" y="2640584"/>
                  </a:cubicBezTo>
                  <a:close/>
                </a:path>
              </a:pathLst>
            </a:custGeom>
            <a:solidFill>
              <a:srgbClr val="F3F6F9"/>
            </a:solidFill>
            <a:ln w="25400" cap="sq">
              <a:solidFill>
                <a:srgbClr val="F3F6F9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3075920" y="5449824"/>
            <a:ext cx="4114800" cy="1097280"/>
            <a:chOff x="0" y="0"/>
            <a:chExt cx="5486400" cy="14630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23825"/>
              <a:ext cx="5486400" cy="1586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2E6FA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64.7 %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3075920" y="6462903"/>
            <a:ext cx="41148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E4A62"/>
                </a:solidFill>
                <a:latin typeface="Calibri (MS)"/>
                <a:ea typeface="Calibri (MS)"/>
                <a:cs typeface="Calibri (MS)"/>
                <a:sym typeface="Calibri (MS)"/>
              </a:rPr>
              <a:t>pour l'email, meilleur canal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2788903" y="7576823"/>
            <a:ext cx="4688843" cy="2128523"/>
            <a:chOff x="0" y="0"/>
            <a:chExt cx="6251791" cy="283803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251829" cy="2838069"/>
            </a:xfrm>
            <a:custGeom>
              <a:avLst/>
              <a:gdLst/>
              <a:ahLst/>
              <a:cxnLst/>
              <a:rect r="r" b="b" t="t" l="l"/>
              <a:pathLst>
                <a:path h="2838069" w="6251829">
                  <a:moveTo>
                    <a:pt x="0" y="197485"/>
                  </a:moveTo>
                  <a:cubicBezTo>
                    <a:pt x="0" y="88392"/>
                    <a:pt x="88392" y="0"/>
                    <a:pt x="197485" y="0"/>
                  </a:cubicBezTo>
                  <a:lnTo>
                    <a:pt x="6054344" y="0"/>
                  </a:lnTo>
                  <a:cubicBezTo>
                    <a:pt x="6163437" y="0"/>
                    <a:pt x="6251829" y="88392"/>
                    <a:pt x="6251829" y="197485"/>
                  </a:cubicBezTo>
                  <a:lnTo>
                    <a:pt x="6251829" y="2640584"/>
                  </a:lnTo>
                  <a:cubicBezTo>
                    <a:pt x="6251829" y="2749677"/>
                    <a:pt x="6163437" y="2838069"/>
                    <a:pt x="6054344" y="2838069"/>
                  </a:cubicBezTo>
                  <a:lnTo>
                    <a:pt x="197485" y="2838069"/>
                  </a:lnTo>
                  <a:cubicBezTo>
                    <a:pt x="88392" y="2838069"/>
                    <a:pt x="0" y="2749677"/>
                    <a:pt x="0" y="2640584"/>
                  </a:cubicBezTo>
                  <a:close/>
                </a:path>
              </a:pathLst>
            </a:custGeom>
            <a:solidFill>
              <a:srgbClr val="F3F6F9"/>
            </a:solidFill>
            <a:ln w="25400" cap="sq">
              <a:solidFill>
                <a:srgbClr val="F3F6F9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3075920" y="7735824"/>
            <a:ext cx="4114800" cy="1097280"/>
            <a:chOff x="0" y="0"/>
            <a:chExt cx="5486400" cy="14630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4864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23825"/>
              <a:ext cx="5486400" cy="1586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C44E5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28.9 %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3075920" y="8748903"/>
            <a:ext cx="4114800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E4A62"/>
                </a:solidFill>
                <a:latin typeface="Calibri (MS)"/>
                <a:ea typeface="Calibri (MS)"/>
                <a:cs typeface="Calibri (MS)"/>
                <a:sym typeface="Calibri (MS)"/>
              </a:rPr>
              <a:t>pour les réseaux sociaux, le plus faible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6916400" y="9608820"/>
            <a:ext cx="73152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8A8F98"/>
                </a:solidFill>
                <a:latin typeface="Calibri (MS)"/>
                <a:ea typeface="Calibri (MS)"/>
                <a:cs typeface="Calibri (MS)"/>
                <a:sym typeface="Calibri (MS)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19456" cy="10287000"/>
            <a:chOff x="0" y="0"/>
            <a:chExt cx="292608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2608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E6FA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9601200"/>
            <a:ext cx="10972800" cy="548640"/>
            <a:chOff x="0" y="0"/>
            <a:chExt cx="14630400" cy="7315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4630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A8F9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Étude de cas Doctoome · Hamady Sakanoko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2960" y="457200"/>
            <a:ext cx="16642080" cy="1371600"/>
            <a:chOff x="0" y="0"/>
            <a:chExt cx="22189440" cy="1828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189439" cy="1828800"/>
            </a:xfrm>
            <a:custGeom>
              <a:avLst/>
              <a:gdLst/>
              <a:ahLst/>
              <a:cxnLst/>
              <a:rect r="r" b="b" t="t" l="l"/>
              <a:pathLst>
                <a:path h="182880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6418" r="0" b="-18641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04775"/>
              <a:ext cx="22189440" cy="1933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999"/>
                </a:lnSpc>
              </a:pPr>
              <a:r>
                <a:rPr lang="en-US" sz="4999" b="true">
                  <a:solidFill>
                    <a:srgbClr val="1B2A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Public touché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10263" y="1779527"/>
            <a:ext cx="16667483" cy="939803"/>
            <a:chOff x="0" y="0"/>
            <a:chExt cx="22223311" cy="125307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223349" cy="1253109"/>
            </a:xfrm>
            <a:custGeom>
              <a:avLst/>
              <a:gdLst/>
              <a:ahLst/>
              <a:cxnLst/>
              <a:rect r="r" b="b" t="t" l="l"/>
              <a:pathLst>
                <a:path h="1253109" w="22223349">
                  <a:moveTo>
                    <a:pt x="0" y="0"/>
                  </a:moveTo>
                  <a:lnTo>
                    <a:pt x="22223349" y="0"/>
                  </a:lnTo>
                  <a:lnTo>
                    <a:pt x="22223349" y="1253109"/>
                  </a:lnTo>
                  <a:lnTo>
                    <a:pt x="0" y="1253109"/>
                  </a:lnTo>
                  <a:close/>
                </a:path>
              </a:pathLst>
            </a:custGeom>
            <a:solidFill>
              <a:srgbClr val="F3F6F9"/>
            </a:solidFill>
            <a:ln w="25400" cap="sq">
              <a:solidFill>
                <a:srgbClr val="F3F6F9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810263" y="1779527"/>
            <a:ext cx="135131" cy="939803"/>
            <a:chOff x="0" y="0"/>
            <a:chExt cx="180175" cy="125307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0213" cy="1253109"/>
            </a:xfrm>
            <a:custGeom>
              <a:avLst/>
              <a:gdLst/>
              <a:ahLst/>
              <a:cxnLst/>
              <a:rect r="r" b="b" t="t" l="l"/>
              <a:pathLst>
                <a:path h="1253109" w="180213">
                  <a:moveTo>
                    <a:pt x="0" y="0"/>
                  </a:moveTo>
                  <a:lnTo>
                    <a:pt x="180213" y="0"/>
                  </a:lnTo>
                  <a:lnTo>
                    <a:pt x="180213" y="1253109"/>
                  </a:lnTo>
                  <a:lnTo>
                    <a:pt x="0" y="1253109"/>
                  </a:lnTo>
                  <a:close/>
                </a:path>
              </a:pathLst>
            </a:custGeom>
            <a:solidFill>
              <a:srgbClr val="2E6FA7"/>
            </a:solidFill>
            <a:ln w="25400" cap="sq">
              <a:solidFill>
                <a:srgbClr val="2E6FA7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188720" y="1792224"/>
            <a:ext cx="16093440" cy="914400"/>
            <a:chOff x="0" y="0"/>
            <a:chExt cx="21457920" cy="1219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4579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2936" r="0" b="-29293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76200"/>
              <a:ext cx="2145792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39"/>
                </a:lnSpc>
              </a:pPr>
              <a:r>
                <a:rPr lang="en-US" sz="3199" b="true">
                  <a:solidFill>
                    <a:srgbClr val="2E6FA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L'âge est le vrai levier de ciblage</a:t>
              </a:r>
            </a:p>
          </p:txBody>
        </p:sp>
      </p:grpSp>
      <p:pic>
        <p:nvPicPr>
          <p:cNvPr name="Picture 17" id="1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0" y="2103120"/>
            <a:ext cx="9875520" cy="813816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513064" y="2020824"/>
            <a:ext cx="9765792" cy="5559552"/>
          </a:xfrm>
          <a:prstGeom prst="rect">
            <a:avLst/>
          </a:prstGeom>
        </p:spPr>
      </p:pic>
      <p:grpSp>
        <p:nvGrpSpPr>
          <p:cNvPr name="Group 19" id="19"/>
          <p:cNvGrpSpPr/>
          <p:nvPr/>
        </p:nvGrpSpPr>
        <p:grpSpPr>
          <a:xfrm rot="0">
            <a:off x="9405623" y="6936743"/>
            <a:ext cx="3957323" cy="2128523"/>
            <a:chOff x="0" y="0"/>
            <a:chExt cx="5276431" cy="283803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276469" cy="2838069"/>
            </a:xfrm>
            <a:custGeom>
              <a:avLst/>
              <a:gdLst/>
              <a:ahLst/>
              <a:cxnLst/>
              <a:rect r="r" b="b" t="t" l="l"/>
              <a:pathLst>
                <a:path h="2838069" w="5276469">
                  <a:moveTo>
                    <a:pt x="0" y="197485"/>
                  </a:moveTo>
                  <a:cubicBezTo>
                    <a:pt x="0" y="88392"/>
                    <a:pt x="88392" y="0"/>
                    <a:pt x="197485" y="0"/>
                  </a:cubicBezTo>
                  <a:lnTo>
                    <a:pt x="5078984" y="0"/>
                  </a:lnTo>
                  <a:cubicBezTo>
                    <a:pt x="5188077" y="0"/>
                    <a:pt x="5276469" y="88392"/>
                    <a:pt x="5276469" y="197485"/>
                  </a:cubicBezTo>
                  <a:lnTo>
                    <a:pt x="5276469" y="2640584"/>
                  </a:lnTo>
                  <a:cubicBezTo>
                    <a:pt x="5276469" y="2749677"/>
                    <a:pt x="5188077" y="2838069"/>
                    <a:pt x="5078984" y="2838069"/>
                  </a:cubicBezTo>
                  <a:lnTo>
                    <a:pt x="197485" y="2838069"/>
                  </a:lnTo>
                  <a:cubicBezTo>
                    <a:pt x="88392" y="2838069"/>
                    <a:pt x="0" y="2749677"/>
                    <a:pt x="0" y="2640584"/>
                  </a:cubicBezTo>
                  <a:close/>
                </a:path>
              </a:pathLst>
            </a:custGeom>
            <a:solidFill>
              <a:srgbClr val="F3F6F9"/>
            </a:solidFill>
            <a:ln w="25400" cap="sq">
              <a:solidFill>
                <a:srgbClr val="F3F6F9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9692640" y="7095744"/>
            <a:ext cx="3383280" cy="1097280"/>
            <a:chOff x="0" y="0"/>
            <a:chExt cx="4511040" cy="14630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511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78" r="0" b="-10078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23825"/>
              <a:ext cx="4511040" cy="1586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DD845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63.1 %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9692640" y="8099298"/>
            <a:ext cx="3383280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>
                <a:solidFill>
                  <a:srgbClr val="2E4A62"/>
                </a:solidFill>
                <a:latin typeface="Calibri (MS)"/>
                <a:ea typeface="Calibri (MS)"/>
                <a:cs typeface="Calibri (MS)"/>
                <a:sym typeface="Calibri (MS)"/>
              </a:rPr>
              <a:t>des possible_risk viennent des 45 ans et plus (46.0 % du trafic)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624560" y="6856095"/>
            <a:ext cx="3840480" cy="2105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4987" indent="-277493" lvl="1">
              <a:lnSpc>
                <a:spcPts val="2759"/>
              </a:lnSpc>
              <a:buFont typeface="Arial"/>
              <a:buChar char="•"/>
            </a:pPr>
            <a:r>
              <a:rPr lang="en-US" sz="2299">
                <a:solidFill>
                  <a:srgbClr val="1B2A3A"/>
                </a:solidFill>
                <a:latin typeface="Calibri (MS)"/>
                <a:ea typeface="Calibri (MS)"/>
                <a:cs typeface="Calibri (MS)"/>
                <a:sym typeface="Calibri (MS)"/>
              </a:rPr>
              <a:t>diabetes_45plus : 39.5 % de possible_risk, soit 21.7 % de tous les possible_risk avec 12.8 % du trafic</a:t>
            </a:r>
          </a:p>
          <a:p>
            <a:pPr algn="l" marL="554987" indent="-277493" lvl="1">
              <a:lnSpc>
                <a:spcPts val="2759"/>
              </a:lnSpc>
              <a:buFont typeface="Arial"/>
              <a:buChar char="•"/>
            </a:pPr>
            <a:r>
              <a:rPr lang="en-US" sz="2299">
                <a:solidFill>
                  <a:srgbClr val="1B2A3A"/>
                </a:solidFill>
                <a:latin typeface="Calibri (MS)"/>
                <a:ea typeface="Calibri (MS)"/>
                <a:cs typeface="Calibri (MS)"/>
                <a:sym typeface="Calibri (MS)"/>
              </a:rPr>
              <a:t>Région et genre : aucune différence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6916400" y="9608820"/>
            <a:ext cx="73152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8A8F98"/>
                </a:solidFill>
                <a:latin typeface="Calibri (MS)"/>
                <a:ea typeface="Calibri (MS)"/>
                <a:cs typeface="Calibri (MS)"/>
                <a:sym typeface="Calibri (MS)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19456" cy="10287000"/>
            <a:chOff x="0" y="0"/>
            <a:chExt cx="292608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2608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E6FA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9601200"/>
            <a:ext cx="10972800" cy="548640"/>
            <a:chOff x="0" y="0"/>
            <a:chExt cx="14630400" cy="7315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4630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A8F9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Étude de cas Doctoome · Hamady Sakanoko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2960" y="457200"/>
            <a:ext cx="16642080" cy="1371600"/>
            <a:chOff x="0" y="0"/>
            <a:chExt cx="22189440" cy="1828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189439" cy="1828800"/>
            </a:xfrm>
            <a:custGeom>
              <a:avLst/>
              <a:gdLst/>
              <a:ahLst/>
              <a:cxnLst/>
              <a:rect r="r" b="b" t="t" l="l"/>
              <a:pathLst>
                <a:path h="182880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6418" r="0" b="-18641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04775"/>
              <a:ext cx="22189440" cy="1933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999"/>
                </a:lnSpc>
              </a:pPr>
              <a:r>
                <a:rPr lang="en-US" sz="4999" b="true">
                  <a:solidFill>
                    <a:srgbClr val="1B2A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Évolution sur 9 semaines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10263" y="1779527"/>
            <a:ext cx="16667483" cy="939803"/>
            <a:chOff x="0" y="0"/>
            <a:chExt cx="22223311" cy="125307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223349" cy="1253109"/>
            </a:xfrm>
            <a:custGeom>
              <a:avLst/>
              <a:gdLst/>
              <a:ahLst/>
              <a:cxnLst/>
              <a:rect r="r" b="b" t="t" l="l"/>
              <a:pathLst>
                <a:path h="1253109" w="22223349">
                  <a:moveTo>
                    <a:pt x="0" y="0"/>
                  </a:moveTo>
                  <a:lnTo>
                    <a:pt x="22223349" y="0"/>
                  </a:lnTo>
                  <a:lnTo>
                    <a:pt x="22223349" y="1253109"/>
                  </a:lnTo>
                  <a:lnTo>
                    <a:pt x="0" y="1253109"/>
                  </a:lnTo>
                  <a:close/>
                </a:path>
              </a:pathLst>
            </a:custGeom>
            <a:solidFill>
              <a:srgbClr val="F3F6F9"/>
            </a:solidFill>
            <a:ln w="25400" cap="sq">
              <a:solidFill>
                <a:srgbClr val="F3F6F9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810263" y="1779527"/>
            <a:ext cx="135131" cy="939803"/>
            <a:chOff x="0" y="0"/>
            <a:chExt cx="180175" cy="125307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0213" cy="1253109"/>
            </a:xfrm>
            <a:custGeom>
              <a:avLst/>
              <a:gdLst/>
              <a:ahLst/>
              <a:cxnLst/>
              <a:rect r="r" b="b" t="t" l="l"/>
              <a:pathLst>
                <a:path h="1253109" w="180213">
                  <a:moveTo>
                    <a:pt x="0" y="0"/>
                  </a:moveTo>
                  <a:lnTo>
                    <a:pt x="180213" y="0"/>
                  </a:lnTo>
                  <a:lnTo>
                    <a:pt x="180213" y="1253109"/>
                  </a:lnTo>
                  <a:lnTo>
                    <a:pt x="0" y="1253109"/>
                  </a:lnTo>
                  <a:close/>
                </a:path>
              </a:pathLst>
            </a:custGeom>
            <a:solidFill>
              <a:srgbClr val="2E6FA7"/>
            </a:solidFill>
            <a:ln w="25400" cap="sq">
              <a:solidFill>
                <a:srgbClr val="2E6FA7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188720" y="1792224"/>
            <a:ext cx="16093440" cy="914400"/>
            <a:chOff x="0" y="0"/>
            <a:chExt cx="21457920" cy="1219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4579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2936" r="0" b="-29293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76200"/>
              <a:ext cx="2145792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39"/>
                </a:lnSpc>
              </a:pPr>
              <a:r>
                <a:rPr lang="en-US" sz="3199" b="true">
                  <a:solidFill>
                    <a:srgbClr val="2E6FA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Le trafic (+68 %) et le taux de résultat progressent</a:t>
              </a:r>
            </a:p>
          </p:txBody>
        </p:sp>
      </p:grpSp>
      <p:pic>
        <p:nvPicPr>
          <p:cNvPr name="Picture 17" id="1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329184" y="1773936"/>
            <a:ext cx="13825728" cy="8796528"/>
          </a:xfrm>
          <a:prstGeom prst="rect">
            <a:avLst/>
          </a:prstGeom>
        </p:spPr>
      </p:pic>
      <p:grpSp>
        <p:nvGrpSpPr>
          <p:cNvPr name="Group 18" id="18"/>
          <p:cNvGrpSpPr/>
          <p:nvPr/>
        </p:nvGrpSpPr>
        <p:grpSpPr>
          <a:xfrm rot="0">
            <a:off x="12788903" y="3004823"/>
            <a:ext cx="4688843" cy="2128523"/>
            <a:chOff x="0" y="0"/>
            <a:chExt cx="6251791" cy="283803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251829" cy="2838069"/>
            </a:xfrm>
            <a:custGeom>
              <a:avLst/>
              <a:gdLst/>
              <a:ahLst/>
              <a:cxnLst/>
              <a:rect r="r" b="b" t="t" l="l"/>
              <a:pathLst>
                <a:path h="2838069" w="6251829">
                  <a:moveTo>
                    <a:pt x="0" y="197485"/>
                  </a:moveTo>
                  <a:cubicBezTo>
                    <a:pt x="0" y="88392"/>
                    <a:pt x="88392" y="0"/>
                    <a:pt x="197485" y="0"/>
                  </a:cubicBezTo>
                  <a:lnTo>
                    <a:pt x="6054344" y="0"/>
                  </a:lnTo>
                  <a:cubicBezTo>
                    <a:pt x="6163437" y="0"/>
                    <a:pt x="6251829" y="88392"/>
                    <a:pt x="6251829" y="197485"/>
                  </a:cubicBezTo>
                  <a:lnTo>
                    <a:pt x="6251829" y="2640584"/>
                  </a:lnTo>
                  <a:cubicBezTo>
                    <a:pt x="6251829" y="2749677"/>
                    <a:pt x="6163437" y="2838069"/>
                    <a:pt x="6054344" y="2838069"/>
                  </a:cubicBezTo>
                  <a:lnTo>
                    <a:pt x="197485" y="2838069"/>
                  </a:lnTo>
                  <a:cubicBezTo>
                    <a:pt x="88392" y="2838069"/>
                    <a:pt x="0" y="2749677"/>
                    <a:pt x="0" y="2640584"/>
                  </a:cubicBezTo>
                  <a:close/>
                </a:path>
              </a:pathLst>
            </a:custGeom>
            <a:solidFill>
              <a:srgbClr val="F3F6F9"/>
            </a:solidFill>
            <a:ln w="25400" cap="sq">
              <a:solidFill>
                <a:srgbClr val="F3F6F9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3075920" y="3163824"/>
            <a:ext cx="4114800" cy="1097280"/>
            <a:chOff x="0" y="0"/>
            <a:chExt cx="5486400" cy="14630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23825"/>
              <a:ext cx="5486400" cy="1586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1B2A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+68 %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3075920" y="4176903"/>
            <a:ext cx="41148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E4A62"/>
                </a:solidFill>
                <a:latin typeface="Calibri (MS)"/>
                <a:ea typeface="Calibri (MS)"/>
                <a:cs typeface="Calibri (MS)"/>
                <a:sym typeface="Calibri (MS)"/>
              </a:rPr>
              <a:t>de sessions entre S1 et S8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2788903" y="5290823"/>
            <a:ext cx="4688843" cy="2128523"/>
            <a:chOff x="0" y="0"/>
            <a:chExt cx="6251791" cy="283803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251829" cy="2838069"/>
            </a:xfrm>
            <a:custGeom>
              <a:avLst/>
              <a:gdLst/>
              <a:ahLst/>
              <a:cxnLst/>
              <a:rect r="r" b="b" t="t" l="l"/>
              <a:pathLst>
                <a:path h="2838069" w="6251829">
                  <a:moveTo>
                    <a:pt x="0" y="197485"/>
                  </a:moveTo>
                  <a:cubicBezTo>
                    <a:pt x="0" y="88392"/>
                    <a:pt x="88392" y="0"/>
                    <a:pt x="197485" y="0"/>
                  </a:cubicBezTo>
                  <a:lnTo>
                    <a:pt x="6054344" y="0"/>
                  </a:lnTo>
                  <a:cubicBezTo>
                    <a:pt x="6163437" y="0"/>
                    <a:pt x="6251829" y="88392"/>
                    <a:pt x="6251829" y="197485"/>
                  </a:cubicBezTo>
                  <a:lnTo>
                    <a:pt x="6251829" y="2640584"/>
                  </a:lnTo>
                  <a:cubicBezTo>
                    <a:pt x="6251829" y="2749677"/>
                    <a:pt x="6163437" y="2838069"/>
                    <a:pt x="6054344" y="2838069"/>
                  </a:cubicBezTo>
                  <a:lnTo>
                    <a:pt x="197485" y="2838069"/>
                  </a:lnTo>
                  <a:cubicBezTo>
                    <a:pt x="88392" y="2838069"/>
                    <a:pt x="0" y="2749677"/>
                    <a:pt x="0" y="2640584"/>
                  </a:cubicBezTo>
                  <a:close/>
                </a:path>
              </a:pathLst>
            </a:custGeom>
            <a:solidFill>
              <a:srgbClr val="F3F6F9"/>
            </a:solidFill>
            <a:ln w="25400" cap="sq">
              <a:solidFill>
                <a:srgbClr val="F3F6F9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3075920" y="5449824"/>
            <a:ext cx="4114800" cy="1097280"/>
            <a:chOff x="0" y="0"/>
            <a:chExt cx="5486400" cy="14630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23825"/>
              <a:ext cx="5486400" cy="1586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2E6FA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40.0 → 47.1 %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3075920" y="6462903"/>
            <a:ext cx="41148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E4A62"/>
                </a:solidFill>
                <a:latin typeface="Calibri (MS)"/>
                <a:ea typeface="Calibri (MS)"/>
                <a:cs typeface="Calibri (MS)"/>
                <a:sym typeface="Calibri (MS)"/>
              </a:rPr>
              <a:t>de taux de résultat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893040" y="7587615"/>
            <a:ext cx="4480560" cy="190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E4A62"/>
                </a:solidFill>
                <a:latin typeface="Calibri (MS)"/>
                <a:ea typeface="Calibri (MS)"/>
                <a:cs typeface="Calibri (MS)"/>
                <a:sym typeface="Calibri (MS)"/>
              </a:rPr>
              <a:t>La hausse commence avant le lancement de diabetes_45plus (S5) : la campagne ne l'explique pas. 9 semaines ne suffisent pas pour parler de tendance.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6916400" y="9608820"/>
            <a:ext cx="73152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8A8F98"/>
                </a:solidFill>
                <a:latin typeface="Calibri (MS)"/>
                <a:ea typeface="Calibri (MS)"/>
                <a:cs typeface="Calibri (MS)"/>
                <a:sym typeface="Calibri (MS)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19456" cy="10287000"/>
            <a:chOff x="0" y="0"/>
            <a:chExt cx="292608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2608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E6FA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9601200"/>
            <a:ext cx="10972800" cy="548640"/>
            <a:chOff x="0" y="0"/>
            <a:chExt cx="14630400" cy="7315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4630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A8F9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Étude de cas Doctoome · Hamady Sakanoko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2960" y="457200"/>
            <a:ext cx="16642080" cy="1371600"/>
            <a:chOff x="0" y="0"/>
            <a:chExt cx="22189440" cy="1828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189439" cy="1828800"/>
            </a:xfrm>
            <a:custGeom>
              <a:avLst/>
              <a:gdLst/>
              <a:ahLst/>
              <a:cxnLst/>
              <a:rect r="r" b="b" t="t" l="l"/>
              <a:pathLst>
                <a:path h="182880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6418" r="0" b="-18641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04775"/>
              <a:ext cx="22189440" cy="1933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999"/>
                </a:lnSpc>
              </a:pPr>
              <a:r>
                <a:rPr lang="en-US" sz="4999" b="true">
                  <a:solidFill>
                    <a:srgbClr val="1B2A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Recommandations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93143" y="2218439"/>
            <a:ext cx="1031243" cy="1031243"/>
            <a:chOff x="0" y="0"/>
            <a:chExt cx="1374991" cy="137499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7490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cubicBezTo>
                    <a:pt x="1067054" y="0"/>
                    <a:pt x="1374902" y="307848"/>
                    <a:pt x="1374902" y="687451"/>
                  </a:cubicBezTo>
                  <a:cubicBezTo>
                    <a:pt x="1374902" y="1067054"/>
                    <a:pt x="1067054" y="1374902"/>
                    <a:pt x="687451" y="1374902"/>
                  </a:cubicBezTo>
                  <a:cubicBezTo>
                    <a:pt x="307848" y="1374902"/>
                    <a:pt x="0" y="1067181"/>
                    <a:pt x="0" y="687451"/>
                  </a:cubicBezTo>
                  <a:close/>
                </a:path>
              </a:pathLst>
            </a:custGeom>
            <a:solidFill>
              <a:srgbClr val="2E6FA7"/>
            </a:solidFill>
            <a:ln w="25400" cap="sq">
              <a:solidFill>
                <a:srgbClr val="2E6FA7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005840" y="2231136"/>
            <a:ext cx="1005840" cy="1005840"/>
            <a:chOff x="0" y="0"/>
            <a:chExt cx="1341120" cy="13411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341120" cy="1398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377440" y="2011680"/>
            <a:ext cx="14996160" cy="1554480"/>
            <a:chOff x="0" y="0"/>
            <a:chExt cx="19994880" cy="2072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994880" cy="2072640"/>
            </a:xfrm>
            <a:custGeom>
              <a:avLst/>
              <a:gdLst/>
              <a:ahLst/>
              <a:cxnLst/>
              <a:rect r="r" b="b" t="t" l="l"/>
              <a:pathLst>
                <a:path h="2072640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973" r="0" b="-137973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76200"/>
              <a:ext cx="19994880" cy="2148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39"/>
                </a:lnSpc>
              </a:pPr>
              <a:r>
                <a:rPr lang="en-US" sz="3199" b="true">
                  <a:solidFill>
                    <a:srgbClr val="1B2A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Vérifier la Q4 sur mobile</a:t>
              </a:r>
            </a:p>
            <a:p>
              <a:pPr algn="l">
                <a:lnSpc>
                  <a:spcPts val="3599"/>
                </a:lnSpc>
              </a:pPr>
              <a:r>
                <a:rPr lang="en-US" sz="2999">
                  <a:solidFill>
                    <a:srgbClr val="2E4A6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puis tester une version simplifiée (moins de choix, libellés courts) sur une partie des visiteurs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93143" y="4083815"/>
            <a:ext cx="1031243" cy="1031243"/>
            <a:chOff x="0" y="0"/>
            <a:chExt cx="1374991" cy="137499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7490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cubicBezTo>
                    <a:pt x="1067054" y="0"/>
                    <a:pt x="1374902" y="307848"/>
                    <a:pt x="1374902" y="687451"/>
                  </a:cubicBezTo>
                  <a:cubicBezTo>
                    <a:pt x="1374902" y="1067054"/>
                    <a:pt x="1067054" y="1374902"/>
                    <a:pt x="687451" y="1374902"/>
                  </a:cubicBezTo>
                  <a:cubicBezTo>
                    <a:pt x="307848" y="1374902"/>
                    <a:pt x="0" y="1067181"/>
                    <a:pt x="0" y="687451"/>
                  </a:cubicBezTo>
                  <a:close/>
                </a:path>
              </a:pathLst>
            </a:custGeom>
            <a:solidFill>
              <a:srgbClr val="2E6FA7"/>
            </a:solidFill>
            <a:ln w="25400" cap="sq">
              <a:solidFill>
                <a:srgbClr val="2E6FA7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005840" y="4096512"/>
            <a:ext cx="1005840" cy="1005840"/>
            <a:chOff x="0" y="0"/>
            <a:chExt cx="1341120" cy="13411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1341120" cy="1398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377440" y="3877056"/>
            <a:ext cx="14996160" cy="1554480"/>
            <a:chOff x="0" y="0"/>
            <a:chExt cx="19994880" cy="20726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9994880" cy="2072640"/>
            </a:xfrm>
            <a:custGeom>
              <a:avLst/>
              <a:gdLst/>
              <a:ahLst/>
              <a:cxnLst/>
              <a:rect r="r" b="b" t="t" l="l"/>
              <a:pathLst>
                <a:path h="2072640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973" r="0" b="-137973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76200"/>
              <a:ext cx="19994880" cy="2148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39"/>
                </a:lnSpc>
              </a:pPr>
              <a:r>
                <a:rPr lang="en-US" sz="3199" b="true">
                  <a:solidFill>
                    <a:srgbClr val="1B2A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Renforcer les canaux qui transforment</a:t>
              </a:r>
            </a:p>
            <a:p>
              <a:pPr algn="l">
                <a:lnSpc>
                  <a:spcPts val="3599"/>
                </a:lnSpc>
              </a:pPr>
              <a:r>
                <a:rPr lang="en-US" sz="2999">
                  <a:solidFill>
                    <a:srgbClr val="2E4A6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email, liens depuis d'autres sites, assistants IA ; revoir diabetes_social_awareness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93143" y="5949191"/>
            <a:ext cx="1031243" cy="1031243"/>
            <a:chOff x="0" y="0"/>
            <a:chExt cx="1374991" cy="137499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37490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cubicBezTo>
                    <a:pt x="1067054" y="0"/>
                    <a:pt x="1374902" y="307848"/>
                    <a:pt x="1374902" y="687451"/>
                  </a:cubicBezTo>
                  <a:cubicBezTo>
                    <a:pt x="1374902" y="1067054"/>
                    <a:pt x="1067054" y="1374902"/>
                    <a:pt x="687451" y="1374902"/>
                  </a:cubicBezTo>
                  <a:cubicBezTo>
                    <a:pt x="307848" y="1374902"/>
                    <a:pt x="0" y="1067181"/>
                    <a:pt x="0" y="687451"/>
                  </a:cubicBezTo>
                  <a:close/>
                </a:path>
              </a:pathLst>
            </a:custGeom>
            <a:solidFill>
              <a:srgbClr val="2E6FA7"/>
            </a:solidFill>
            <a:ln w="25400" cap="sq">
              <a:solidFill>
                <a:srgbClr val="2E6FA7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005840" y="5961888"/>
            <a:ext cx="1005840" cy="1005840"/>
            <a:chOff x="0" y="0"/>
            <a:chExt cx="1341120" cy="13411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1341120" cy="1398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2377440" y="5742432"/>
            <a:ext cx="14996160" cy="1554480"/>
            <a:chOff x="0" y="0"/>
            <a:chExt cx="19994880" cy="20726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9994880" cy="2072640"/>
            </a:xfrm>
            <a:custGeom>
              <a:avLst/>
              <a:gdLst/>
              <a:ahLst/>
              <a:cxnLst/>
              <a:rect r="r" b="b" t="t" l="l"/>
              <a:pathLst>
                <a:path h="2072640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973" r="0" b="-137973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76200"/>
              <a:ext cx="19994880" cy="2148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39"/>
                </a:lnSpc>
              </a:pPr>
              <a:r>
                <a:rPr lang="en-US" sz="3199" b="true">
                  <a:solidFill>
                    <a:srgbClr val="1B2A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Étendre le ciblage par l'âge</a:t>
              </a:r>
            </a:p>
            <a:p>
              <a:pPr algn="l">
                <a:lnSpc>
                  <a:spcPts val="3599"/>
                </a:lnSpc>
              </a:pPr>
              <a:r>
                <a:rPr lang="en-US" sz="2999">
                  <a:solidFill>
                    <a:srgbClr val="2E4A6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 logique de diabetes_45plus ramène le public concerné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93143" y="7814567"/>
            <a:ext cx="1031243" cy="1031243"/>
            <a:chOff x="0" y="0"/>
            <a:chExt cx="1374991" cy="137499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37490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cubicBezTo>
                    <a:pt x="1067054" y="0"/>
                    <a:pt x="1374902" y="307848"/>
                    <a:pt x="1374902" y="687451"/>
                  </a:cubicBezTo>
                  <a:cubicBezTo>
                    <a:pt x="1374902" y="1067054"/>
                    <a:pt x="1067054" y="1374902"/>
                    <a:pt x="687451" y="1374902"/>
                  </a:cubicBezTo>
                  <a:cubicBezTo>
                    <a:pt x="307848" y="1374902"/>
                    <a:pt x="0" y="1067181"/>
                    <a:pt x="0" y="687451"/>
                  </a:cubicBezTo>
                  <a:close/>
                </a:path>
              </a:pathLst>
            </a:custGeom>
            <a:solidFill>
              <a:srgbClr val="2E6FA7"/>
            </a:solidFill>
            <a:ln w="25400" cap="sq">
              <a:solidFill>
                <a:srgbClr val="2E6FA7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005840" y="7827264"/>
            <a:ext cx="1005840" cy="1005840"/>
            <a:chOff x="0" y="0"/>
            <a:chExt cx="1341120" cy="13411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57150"/>
              <a:ext cx="1341120" cy="1398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2377440" y="7607808"/>
            <a:ext cx="14996160" cy="1554480"/>
            <a:chOff x="0" y="0"/>
            <a:chExt cx="19994880" cy="20726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9994880" cy="2072640"/>
            </a:xfrm>
            <a:custGeom>
              <a:avLst/>
              <a:gdLst/>
              <a:ahLst/>
              <a:cxnLst/>
              <a:rect r="r" b="b" t="t" l="l"/>
              <a:pathLst>
                <a:path h="2072640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973" r="0" b="-137973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76200"/>
              <a:ext cx="19994880" cy="2148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39"/>
                </a:lnSpc>
              </a:pPr>
              <a:r>
                <a:rPr lang="en-US" sz="3199" b="true">
                  <a:solidFill>
                    <a:srgbClr val="1B2A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Mieux mesurer</a:t>
              </a:r>
            </a:p>
            <a:p>
              <a:pPr algn="l">
                <a:lnSpc>
                  <a:spcPts val="3599"/>
                </a:lnSpc>
              </a:pPr>
              <a:r>
                <a:rPr lang="en-US" sz="2999">
                  <a:solidFill>
                    <a:srgbClr val="2E4A6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coût de chaque canal, source sur tous les liens</a:t>
              </a: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16916400" y="9608820"/>
            <a:ext cx="73152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8A8F98"/>
                </a:solidFill>
                <a:latin typeface="Calibri (MS)"/>
                <a:ea typeface="Calibri (MS)"/>
                <a:cs typeface="Calibri (MS)"/>
                <a:sym typeface="Calibri (MS)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19456" cy="10287000"/>
            <a:chOff x="0" y="0"/>
            <a:chExt cx="292608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2608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92608">
                  <a:moveTo>
                    <a:pt x="0" y="0"/>
                  </a:moveTo>
                  <a:lnTo>
                    <a:pt x="292608" y="0"/>
                  </a:lnTo>
                  <a:lnTo>
                    <a:pt x="292608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E6FA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9601200"/>
            <a:ext cx="10972800" cy="548640"/>
            <a:chOff x="0" y="0"/>
            <a:chExt cx="14630400" cy="7315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46304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A8F9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Étude de cas Doctoome · Hamady Sakanoko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22960" y="457200"/>
            <a:ext cx="16642080" cy="1371600"/>
            <a:chOff x="0" y="0"/>
            <a:chExt cx="22189440" cy="1828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189439" cy="1828800"/>
            </a:xfrm>
            <a:custGeom>
              <a:avLst/>
              <a:gdLst/>
              <a:ahLst/>
              <a:cxnLst/>
              <a:rect r="r" b="b" t="t" l="l"/>
              <a:pathLst>
                <a:path h="182880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6418" r="0" b="-18641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04775"/>
              <a:ext cx="22189440" cy="1933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999"/>
                </a:lnSpc>
              </a:pPr>
              <a:r>
                <a:rPr lang="en-US" sz="4999" b="true">
                  <a:solidFill>
                    <a:srgbClr val="1B2A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Limites et perspectives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2960" y="2547600"/>
            <a:ext cx="8046720" cy="720401"/>
            <a:chOff x="0" y="0"/>
            <a:chExt cx="10728960" cy="96053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728960" cy="960535"/>
            </a:xfrm>
            <a:custGeom>
              <a:avLst/>
              <a:gdLst/>
              <a:ahLst/>
              <a:cxnLst/>
              <a:rect r="r" b="b" t="t" l="l"/>
              <a:pathLst>
                <a:path h="960535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960535"/>
                  </a:lnTo>
                  <a:lnTo>
                    <a:pt x="0" y="96053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3218" r="0" b="-162068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10728960" cy="1046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19"/>
                </a:lnSpc>
              </a:pPr>
              <a:r>
                <a:rPr lang="en-US" sz="3599" b="true">
                  <a:solidFill>
                    <a:srgbClr val="C44E5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Ce qu'on ne sait pas encore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637836" y="4146848"/>
            <a:ext cx="7863840" cy="3190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3896" indent="-361948" lvl="1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1B2A3A"/>
                </a:solidFill>
                <a:latin typeface="Calibri (MS)"/>
                <a:ea typeface="Calibri (MS)"/>
                <a:cs typeface="Calibri (MS)"/>
                <a:sym typeface="Calibri (MS)"/>
              </a:rPr>
              <a:t>Mobile et Q4 : un lien observé, pas une cause prouvée</a:t>
            </a:r>
          </a:p>
          <a:p>
            <a:pPr algn="l" marL="723896" indent="-361948" lvl="1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1B2A3A"/>
                </a:solidFill>
                <a:latin typeface="Calibri (MS)"/>
                <a:ea typeface="Calibri (MS)"/>
                <a:cs typeface="Calibri (MS)"/>
                <a:sym typeface="Calibri (MS)"/>
              </a:rPr>
              <a:t>Pourquoi 35.5 % partent sans commencer</a:t>
            </a:r>
          </a:p>
          <a:p>
            <a:pPr algn="l" marL="723896" indent="-361948" lvl="1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1B2A3A"/>
                </a:solidFill>
                <a:latin typeface="Calibri (MS)"/>
                <a:ea typeface="Calibri (MS)"/>
                <a:cs typeface="Calibri (MS)"/>
                <a:sym typeface="Calibri (MS)"/>
              </a:rPr>
              <a:t>105 sessions à 5 réponses sans résultat : abandon ou problème technique ?</a:t>
            </a:r>
          </a:p>
          <a:p>
            <a:pPr algn="l" marL="723896" indent="-361948" lvl="1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1B2A3A"/>
                </a:solidFill>
                <a:latin typeface="Calibri (MS)"/>
                <a:ea typeface="Calibri (MS)"/>
                <a:cs typeface="Calibri (MS)"/>
                <a:sym typeface="Calibri (MS)"/>
              </a:rPr>
              <a:t>9 semaines d'un seul été : tendance ou saison ?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418320" y="2547600"/>
            <a:ext cx="8046720" cy="720401"/>
            <a:chOff x="0" y="0"/>
            <a:chExt cx="10728960" cy="96053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728960" cy="960535"/>
            </a:xfrm>
            <a:custGeom>
              <a:avLst/>
              <a:gdLst/>
              <a:ahLst/>
              <a:cxnLst/>
              <a:rect r="r" b="b" t="t" l="l"/>
              <a:pathLst>
                <a:path h="960535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960535"/>
                  </a:lnTo>
                  <a:lnTo>
                    <a:pt x="0" y="96053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3218" r="0" b="-162068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85725"/>
              <a:ext cx="10728960" cy="1046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19"/>
                </a:lnSpc>
              </a:pPr>
              <a:r>
                <a:rPr lang="en-US" sz="3599" b="true">
                  <a:solidFill>
                    <a:srgbClr val="2E6FA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Ce que je suivrais sur 12 mois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9144000" y="4146848"/>
            <a:ext cx="7863840" cy="3190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3896" indent="-361948" lvl="1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1B2A3A"/>
                </a:solidFill>
                <a:latin typeface="Calibri (MS)"/>
                <a:ea typeface="Calibri (MS)"/>
                <a:cs typeface="Calibri (MS)"/>
                <a:sym typeface="Calibri (MS)"/>
              </a:rPr>
              <a:t>Chaque semaine : taux de début, de résultat, perte Q3 vers Q4 par appareil</a:t>
            </a:r>
          </a:p>
          <a:p>
            <a:pPr algn="l" marL="723896" indent="-361948" lvl="1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1B2A3A"/>
                </a:solidFill>
                <a:latin typeface="Calibri (MS)"/>
                <a:ea typeface="Calibri (MS)"/>
                <a:cs typeface="Calibri (MS)"/>
                <a:sym typeface="Calibri (MS)"/>
              </a:rPr>
              <a:t>Par canal et campagne : taux de résultat, part de possible_risk, coût par résultat</a:t>
            </a:r>
          </a:p>
          <a:p>
            <a:pPr algn="l" marL="723896" indent="-361948" lvl="1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1B2A3A"/>
                </a:solidFill>
                <a:latin typeface="Calibri (MS)"/>
                <a:ea typeface="Calibri (MS)"/>
                <a:cs typeface="Calibri (MS)"/>
                <a:sym typeface="Calibri (MS)"/>
              </a:rPr>
              <a:t>Après le résultat : clics vers une offre de soins</a:t>
            </a:r>
          </a:p>
          <a:p>
            <a:pPr algn="l" marL="723896" indent="-361948" lvl="1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1B2A3A"/>
                </a:solidFill>
                <a:latin typeface="Calibri (MS)"/>
                <a:ea typeface="Calibri (MS)"/>
                <a:cs typeface="Calibri (MS)"/>
                <a:sym typeface="Calibri (MS)"/>
              </a:rPr>
              <a:t>Qualité de la mesure et saisonnalité sur l'année</a:t>
            </a:r>
          </a:p>
        </p:txBody>
      </p:sp>
      <p:sp>
        <p:nvSpPr>
          <p:cNvPr name="AutoShape 18" id="18"/>
          <p:cNvSpPr/>
          <p:nvPr/>
        </p:nvSpPr>
        <p:spPr>
          <a:xfrm>
            <a:off x="9039839" y="2626338"/>
            <a:ext cx="25443" cy="6974844"/>
          </a:xfrm>
          <a:prstGeom prst="line">
            <a:avLst/>
          </a:prstGeom>
          <a:ln cap="rnd" w="9525">
            <a:solidFill>
              <a:srgbClr val="D5DCE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0">
            <a:off x="16916400" y="9608820"/>
            <a:ext cx="73152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8A8F98"/>
                </a:solidFill>
                <a:latin typeface="Calibri (MS)"/>
                <a:ea typeface="Calibri (MS)"/>
                <a:cs typeface="Calibri (MS)"/>
                <a:sym typeface="Calibri (MS)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DAHYdu2wfy0</dc:identifier>
  <dcterms:modified xsi:type="dcterms:W3CDTF">2011-08-01T06:04:30Z</dcterms:modified>
  <cp:revision>1</cp:revision>
  <dc:title>doctoome_presentation.pptx</dc:title>
</cp:coreProperties>
</file>